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65" r:id="rId4"/>
    <p:sldId id="264" r:id="rId5"/>
    <p:sldId id="267" r:id="rId6"/>
    <p:sldId id="269" r:id="rId7"/>
    <p:sldId id="271" r:id="rId8"/>
    <p:sldId id="272" r:id="rId9"/>
    <p:sldId id="273" r:id="rId10"/>
    <p:sldId id="274" r:id="rId11"/>
    <p:sldId id="279" r:id="rId12"/>
    <p:sldId id="278" r:id="rId13"/>
    <p:sldId id="277" r:id="rId14"/>
  </p:sldIdLst>
  <p:sldSz cx="14630400" cy="8229600"/>
  <p:notesSz cx="8229600" cy="14630400"/>
  <p:embeddedFontLst>
    <p:embeddedFont>
      <p:font typeface="Calibri" pitchFamily="34" charset="0"/>
      <p:regular r:id="rId16"/>
      <p:bold r:id="rId17"/>
      <p:italic r:id="rId18"/>
      <p:boldItalic r:id="rId19"/>
    </p:embeddedFont>
    <p:embeddedFont>
      <p:font typeface="Montserrat Bold" charset="0"/>
      <p:bold r:id="rId20"/>
    </p:embeddedFont>
    <p:embeddedFont>
      <p:font typeface="Source Sans 3" charset="0"/>
      <p:regular r:id="rId21"/>
    </p:embeddedFont>
    <p:embeddedFont>
      <p:font typeface="Algerian" pitchFamily="82"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611"/>
    <p:restoredTop sz="94610"/>
  </p:normalViewPr>
  <p:slideViewPr>
    <p:cSldViewPr snapToGrid="0" snapToObjects="1">
      <p:cViewPr varScale="1">
        <p:scale>
          <a:sx n="60" d="100"/>
          <a:sy n="60" d="100"/>
        </p:scale>
        <p:origin x="-612" y="-84"/>
      </p:cViewPr>
      <p:guideLst>
        <p:guide orient="horz" pos="2592"/>
        <p:guide pos="4608"/>
      </p:guideLst>
    </p:cSldViewPr>
  </p:slideViewPr>
  <p:notesTextViewPr>
    <p:cViewPr>
      <p:scale>
        <a:sx n="1" d="1"/>
        <a:sy n="1" d="1"/>
      </p:scale>
      <p:origin x="0" y="0"/>
    </p:cViewPr>
  </p:notesTextViewPr>
  <p:notesViewPr>
    <p:cSldViewPr snapToGrid="0" snapToObjects="1">
      <p:cViewPr varScale="1">
        <p:scale>
          <a:sx n="36" d="100"/>
          <a:sy n="36" d="100"/>
        </p:scale>
        <p:origin x="3102" y="12"/>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523410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xmlns="" val="707570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11151"/>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pic>
        <p:nvPicPr>
          <p:cNvPr id="1026" name="Picture 2" descr="KLH | Hyderabad">
            <a:extLst>
              <a:ext uri="{FF2B5EF4-FFF2-40B4-BE49-F238E27FC236}">
                <a16:creationId xmlns:a16="http://schemas.microsoft.com/office/drawing/2014/main" xmlns="" id="{BCADEC8B-2254-EDAA-D226-A8EC688AD694}"/>
              </a:ext>
            </a:extLst>
          </p:cNvPr>
          <p:cNvPicPr>
            <a:picLocks noChangeAspect="1" noChangeArrowheads="1"/>
          </p:cNvPicPr>
          <p:nvPr userDrawn="1"/>
        </p:nvPicPr>
        <p:blipFill rotWithShape="1">
          <a:blip r:embed="rId4">
            <a:extLst>
              <a:ext uri="{28A0092B-C50C-407E-A947-70E740481C1C}">
                <a14:useLocalDpi xmlns:a14="http://schemas.microsoft.com/office/drawing/2010/main" xmlns="" val="0"/>
              </a:ext>
            </a:extLst>
          </a:blip>
          <a:srcRect t="30354" b="28540"/>
          <a:stretch>
            <a:fillRect/>
          </a:stretch>
        </p:blipFill>
        <p:spPr bwMode="auto">
          <a:xfrm>
            <a:off x="12418695" y="7280073"/>
            <a:ext cx="2143125" cy="880947"/>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pic>
        <p:nvPicPr>
          <p:cNvPr id="5" name="Picture 2" descr="KLH | Hyderabad">
            <a:extLst>
              <a:ext uri="{FF2B5EF4-FFF2-40B4-BE49-F238E27FC236}">
                <a16:creationId xmlns:a16="http://schemas.microsoft.com/office/drawing/2014/main" xmlns="" id="{D12A4F96-49A2-EF31-586D-0656186D2826}"/>
              </a:ext>
            </a:extLst>
          </p:cNvPr>
          <p:cNvPicPr>
            <a:picLocks noChangeAspect="1" noChangeArrowheads="1"/>
          </p:cNvPicPr>
          <p:nvPr userDrawn="1"/>
        </p:nvPicPr>
        <p:blipFill rotWithShape="1">
          <a:blip r:embed="rId4">
            <a:extLst>
              <a:ext uri="{28A0092B-C50C-407E-A947-70E740481C1C}">
                <a14:useLocalDpi xmlns:a14="http://schemas.microsoft.com/office/drawing/2010/main" xmlns="" val="0"/>
              </a:ext>
            </a:extLst>
          </a:blip>
          <a:srcRect t="30354" b="28540"/>
          <a:stretch>
            <a:fillRect/>
          </a:stretch>
        </p:blipFill>
        <p:spPr bwMode="auto">
          <a:xfrm>
            <a:off x="12407544" y="7291224"/>
            <a:ext cx="2143125" cy="880947"/>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pic>
        <p:nvPicPr>
          <p:cNvPr id="5" name="Picture 2" descr="KLH | Hyderabad">
            <a:extLst>
              <a:ext uri="{FF2B5EF4-FFF2-40B4-BE49-F238E27FC236}">
                <a16:creationId xmlns:a16="http://schemas.microsoft.com/office/drawing/2014/main" xmlns="" id="{905A76B1-DA95-3B49-57C4-0BBB680FC3C6}"/>
              </a:ext>
            </a:extLst>
          </p:cNvPr>
          <p:cNvPicPr>
            <a:picLocks noChangeAspect="1" noChangeArrowheads="1"/>
          </p:cNvPicPr>
          <p:nvPr userDrawn="1"/>
        </p:nvPicPr>
        <p:blipFill rotWithShape="1">
          <a:blip r:embed="rId4">
            <a:extLst>
              <a:ext uri="{28A0092B-C50C-407E-A947-70E740481C1C}">
                <a14:useLocalDpi xmlns:a14="http://schemas.microsoft.com/office/drawing/2010/main" xmlns="" val="0"/>
              </a:ext>
            </a:extLst>
          </a:blip>
          <a:srcRect t="30354" b="28540"/>
          <a:stretch>
            <a:fillRect/>
          </a:stretch>
        </p:blipFill>
        <p:spPr bwMode="auto">
          <a:xfrm>
            <a:off x="12418695" y="7291224"/>
            <a:ext cx="2143125" cy="880947"/>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pic>
        <p:nvPicPr>
          <p:cNvPr id="5" name="Picture 2" descr="KLH | Hyderabad">
            <a:extLst>
              <a:ext uri="{FF2B5EF4-FFF2-40B4-BE49-F238E27FC236}">
                <a16:creationId xmlns:a16="http://schemas.microsoft.com/office/drawing/2014/main" xmlns="" id="{0A30BE06-E427-4F24-3852-A249820C4E3A}"/>
              </a:ext>
            </a:extLst>
          </p:cNvPr>
          <p:cNvPicPr>
            <a:picLocks noChangeAspect="1" noChangeArrowheads="1"/>
          </p:cNvPicPr>
          <p:nvPr userDrawn="1"/>
        </p:nvPicPr>
        <p:blipFill rotWithShape="1">
          <a:blip r:embed="rId4">
            <a:extLst>
              <a:ext uri="{28A0092B-C50C-407E-A947-70E740481C1C}">
                <a14:useLocalDpi xmlns:a14="http://schemas.microsoft.com/office/drawing/2010/main" xmlns="" val="0"/>
              </a:ext>
            </a:extLst>
          </a:blip>
          <a:srcRect t="30354" b="28540"/>
          <a:stretch>
            <a:fillRect/>
          </a:stretch>
        </p:blipFill>
        <p:spPr bwMode="auto">
          <a:xfrm>
            <a:off x="12418695" y="7280073"/>
            <a:ext cx="2143125" cy="880947"/>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pic>
        <p:nvPicPr>
          <p:cNvPr id="5" name="Picture 2" descr="KLH | Hyderabad">
            <a:extLst>
              <a:ext uri="{FF2B5EF4-FFF2-40B4-BE49-F238E27FC236}">
                <a16:creationId xmlns:a16="http://schemas.microsoft.com/office/drawing/2014/main" xmlns="" id="{4CC02321-CC90-2DB4-7FBA-D69E32C2F8CF}"/>
              </a:ext>
            </a:extLst>
          </p:cNvPr>
          <p:cNvPicPr>
            <a:picLocks noChangeAspect="1" noChangeArrowheads="1"/>
          </p:cNvPicPr>
          <p:nvPr userDrawn="1"/>
        </p:nvPicPr>
        <p:blipFill rotWithShape="1">
          <a:blip r:embed="rId4">
            <a:extLst>
              <a:ext uri="{28A0092B-C50C-407E-A947-70E740481C1C}">
                <a14:useLocalDpi xmlns:a14="http://schemas.microsoft.com/office/drawing/2010/main" xmlns="" val="0"/>
              </a:ext>
            </a:extLst>
          </a:blip>
          <a:srcRect t="30354" b="28540"/>
          <a:stretch>
            <a:fillRect/>
          </a:stretch>
        </p:blipFill>
        <p:spPr bwMode="auto">
          <a:xfrm>
            <a:off x="12418695" y="7280073"/>
            <a:ext cx="2143125" cy="880947"/>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pic>
        <p:nvPicPr>
          <p:cNvPr id="5" name="Picture 2" descr="KLH | Hyderabad">
            <a:extLst>
              <a:ext uri="{FF2B5EF4-FFF2-40B4-BE49-F238E27FC236}">
                <a16:creationId xmlns:a16="http://schemas.microsoft.com/office/drawing/2014/main" xmlns="" id="{A76B6A1E-BE46-1428-3E18-BA62423309DD}"/>
              </a:ext>
            </a:extLst>
          </p:cNvPr>
          <p:cNvPicPr>
            <a:picLocks noChangeAspect="1" noChangeArrowheads="1"/>
          </p:cNvPicPr>
          <p:nvPr userDrawn="1"/>
        </p:nvPicPr>
        <p:blipFill rotWithShape="1">
          <a:blip r:embed="rId4">
            <a:extLst>
              <a:ext uri="{28A0092B-C50C-407E-A947-70E740481C1C}">
                <a14:useLocalDpi xmlns:a14="http://schemas.microsoft.com/office/drawing/2010/main" xmlns="" val="0"/>
              </a:ext>
            </a:extLst>
          </a:blip>
          <a:srcRect t="30354" b="28540"/>
          <a:stretch>
            <a:fillRect/>
          </a:stretch>
        </p:blipFill>
        <p:spPr bwMode="auto">
          <a:xfrm>
            <a:off x="12418695" y="7280073"/>
            <a:ext cx="2143125" cy="880947"/>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pic>
        <p:nvPicPr>
          <p:cNvPr id="5" name="Picture 2" descr="KLH | Hyderabad">
            <a:extLst>
              <a:ext uri="{FF2B5EF4-FFF2-40B4-BE49-F238E27FC236}">
                <a16:creationId xmlns:a16="http://schemas.microsoft.com/office/drawing/2014/main" xmlns="" id="{3400E869-375B-40A5-E046-1F80E0D9E65E}"/>
              </a:ext>
            </a:extLst>
          </p:cNvPr>
          <p:cNvPicPr>
            <a:picLocks noChangeAspect="1" noChangeArrowheads="1"/>
          </p:cNvPicPr>
          <p:nvPr userDrawn="1"/>
        </p:nvPicPr>
        <p:blipFill rotWithShape="1">
          <a:blip r:embed="rId4">
            <a:extLst>
              <a:ext uri="{28A0092B-C50C-407E-A947-70E740481C1C}">
                <a14:useLocalDpi xmlns:a14="http://schemas.microsoft.com/office/drawing/2010/main" xmlns="" val="0"/>
              </a:ext>
            </a:extLst>
          </a:blip>
          <a:srcRect t="30354" b="28540"/>
          <a:stretch>
            <a:fillRect/>
          </a:stretch>
        </p:blipFill>
        <p:spPr bwMode="auto">
          <a:xfrm>
            <a:off x="12418695" y="7280073"/>
            <a:ext cx="2143125" cy="880947"/>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pic>
        <p:nvPicPr>
          <p:cNvPr id="5" name="Picture 2" descr="KLH | Hyderabad">
            <a:extLst>
              <a:ext uri="{FF2B5EF4-FFF2-40B4-BE49-F238E27FC236}">
                <a16:creationId xmlns:a16="http://schemas.microsoft.com/office/drawing/2014/main" xmlns="" id="{139A8E64-BEB1-BC97-EEF9-9E2A4992E5DC}"/>
              </a:ext>
            </a:extLst>
          </p:cNvPr>
          <p:cNvPicPr>
            <a:picLocks noChangeAspect="1" noChangeArrowheads="1"/>
          </p:cNvPicPr>
          <p:nvPr userDrawn="1"/>
        </p:nvPicPr>
        <p:blipFill rotWithShape="1">
          <a:blip r:embed="rId4">
            <a:extLst>
              <a:ext uri="{28A0092B-C50C-407E-A947-70E740481C1C}">
                <a14:useLocalDpi xmlns:a14="http://schemas.microsoft.com/office/drawing/2010/main" xmlns="" val="0"/>
              </a:ext>
            </a:extLst>
          </a:blip>
          <a:srcRect t="30354" b="28540"/>
          <a:stretch>
            <a:fillRect/>
          </a:stretch>
        </p:blipFill>
        <p:spPr bwMode="auto">
          <a:xfrm>
            <a:off x="12418695" y="7280073"/>
            <a:ext cx="2143125" cy="880947"/>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63798" y="1382870"/>
            <a:ext cx="8628459" cy="701278"/>
          </a:xfrm>
          <a:prstGeom prst="rect">
            <a:avLst/>
          </a:prstGeom>
          <a:noFill/>
          <a:ln/>
        </p:spPr>
        <p:txBody>
          <a:bodyPr wrap="none" lIns="0" tIns="0" rIns="0" bIns="0" rtlCol="0" anchor="t"/>
          <a:lstStyle/>
          <a:p>
            <a:pPr>
              <a:lnSpc>
                <a:spcPts val="5500"/>
              </a:lnSpc>
            </a:pPr>
            <a:r>
              <a:rPr lang="en-US" sz="4400" b="1" dirty="0" smtClean="0"/>
              <a:t>Process Lifecycle Analyzer &amp; Scheduler Simulator</a:t>
            </a:r>
            <a:endParaRPr lang="en-US" sz="4400" b="1" dirty="0"/>
          </a:p>
          <a:p>
            <a:pPr>
              <a:lnSpc>
                <a:spcPts val="5500"/>
              </a:lnSpc>
            </a:pPr>
            <a:r>
              <a:rPr lang="en-US" sz="4400" dirty="0">
                <a:solidFill>
                  <a:schemeClr val="tx1">
                    <a:lumMod val="85000"/>
                    <a:lumOff val="15000"/>
                  </a:schemeClr>
                </a:solidFill>
              </a:rPr>
              <a:t>Operating Systems </a:t>
            </a:r>
            <a:r>
              <a:rPr lang="en-US" sz="4400" dirty="0" err="1" smtClean="0">
                <a:solidFill>
                  <a:schemeClr val="tx1">
                    <a:lumMod val="85000"/>
                    <a:lumOff val="15000"/>
                  </a:schemeClr>
                </a:solidFill>
              </a:rPr>
              <a:t>Hackathon</a:t>
            </a:r>
            <a:endParaRPr lang="en-US" sz="4400" dirty="0">
              <a:solidFill>
                <a:schemeClr val="tx1">
                  <a:lumMod val="85000"/>
                  <a:lumOff val="15000"/>
                </a:schemeClr>
              </a:solidFill>
            </a:endParaRPr>
          </a:p>
          <a:p>
            <a:pPr marL="0" indent="0" algn="l">
              <a:lnSpc>
                <a:spcPts val="5500"/>
              </a:lnSpc>
              <a:buNone/>
            </a:pPr>
            <a:endParaRPr lang="en-US" sz="4400" dirty="0"/>
          </a:p>
        </p:txBody>
      </p:sp>
      <p:sp>
        <p:nvSpPr>
          <p:cNvPr id="3" name="Text 1"/>
          <p:cNvSpPr/>
          <p:nvPr/>
        </p:nvSpPr>
        <p:spPr>
          <a:xfrm>
            <a:off x="863798" y="2140949"/>
            <a:ext cx="6077664" cy="560903"/>
          </a:xfrm>
          <a:prstGeom prst="rect">
            <a:avLst/>
          </a:prstGeom>
          <a:noFill/>
          <a:ln/>
        </p:spPr>
        <p:txBody>
          <a:bodyPr wrap="none" lIns="0" tIns="0" rIns="0" bIns="0" rtlCol="0" anchor="t"/>
          <a:lstStyle/>
          <a:p>
            <a:pPr marL="0" indent="0" algn="l">
              <a:lnSpc>
                <a:spcPts val="4400"/>
              </a:lnSpc>
              <a:buNone/>
            </a:pPr>
            <a:endParaRPr lang="en-US" sz="3500" dirty="0"/>
          </a:p>
        </p:txBody>
      </p:sp>
      <p:sp>
        <p:nvSpPr>
          <p:cNvPr id="4" name="Text 2"/>
          <p:cNvSpPr/>
          <p:nvPr/>
        </p:nvSpPr>
        <p:spPr>
          <a:xfrm>
            <a:off x="863798" y="3204773"/>
            <a:ext cx="12902803" cy="3424628"/>
          </a:xfrm>
          <a:prstGeom prst="rect">
            <a:avLst/>
          </a:prstGeom>
          <a:noFill/>
          <a:ln/>
        </p:spPr>
        <p:txBody>
          <a:bodyPr wrap="square" lIns="0" tIns="0" rIns="0" bIns="0" rtlCol="0" anchor="t"/>
          <a:lstStyle/>
          <a:p>
            <a:pPr>
              <a:lnSpc>
                <a:spcPts val="2900"/>
              </a:lnSpc>
            </a:pPr>
            <a:r>
              <a:rPr lang="en-US" sz="2000" b="1" dirty="0">
                <a:solidFill>
                  <a:srgbClr val="0F172A"/>
                </a:solidFill>
              </a:rPr>
              <a:t>Team Members:</a:t>
            </a:r>
            <a:endParaRPr lang="en-US" sz="2000" dirty="0"/>
          </a:p>
          <a:p>
            <a:pPr>
              <a:lnSpc>
                <a:spcPts val="2900"/>
              </a:lnSpc>
            </a:pPr>
            <a:r>
              <a:rPr lang="en-US" sz="2000" dirty="0" smtClean="0">
                <a:solidFill>
                  <a:srgbClr val="475569"/>
                </a:solidFill>
              </a:rPr>
              <a:t> </a:t>
            </a:r>
            <a:r>
              <a:rPr lang="en-US" sz="2000" dirty="0" err="1" smtClean="0">
                <a:solidFill>
                  <a:srgbClr val="475569"/>
                </a:solidFill>
              </a:rPr>
              <a:t>Tanusri</a:t>
            </a:r>
            <a:r>
              <a:rPr lang="en-US" sz="2000" dirty="0" smtClean="0">
                <a:solidFill>
                  <a:srgbClr val="475569"/>
                </a:solidFill>
              </a:rPr>
              <a:t> </a:t>
            </a:r>
            <a:r>
              <a:rPr lang="en-US" sz="2000" dirty="0">
                <a:solidFill>
                  <a:srgbClr val="475569"/>
                </a:solidFill>
              </a:rPr>
              <a:t>(2420030105)</a:t>
            </a:r>
            <a:endParaRPr lang="en-US" sz="2000" dirty="0"/>
          </a:p>
          <a:p>
            <a:pPr>
              <a:lnSpc>
                <a:spcPts val="2900"/>
              </a:lnSpc>
            </a:pPr>
            <a:r>
              <a:rPr lang="en-US" sz="2000" dirty="0" smtClean="0">
                <a:solidFill>
                  <a:srgbClr val="475569"/>
                </a:solidFill>
              </a:rPr>
              <a:t> </a:t>
            </a:r>
            <a:r>
              <a:rPr lang="en-US" sz="2000" dirty="0" err="1" smtClean="0">
                <a:solidFill>
                  <a:srgbClr val="475569"/>
                </a:solidFill>
              </a:rPr>
              <a:t>Pranusree</a:t>
            </a:r>
            <a:r>
              <a:rPr lang="en-US" sz="2000" dirty="0" smtClean="0">
                <a:solidFill>
                  <a:srgbClr val="475569"/>
                </a:solidFill>
              </a:rPr>
              <a:t> </a:t>
            </a:r>
            <a:r>
              <a:rPr lang="en-US" sz="2000" dirty="0">
                <a:solidFill>
                  <a:srgbClr val="475569"/>
                </a:solidFill>
              </a:rPr>
              <a:t>(2420030658)</a:t>
            </a:r>
            <a:endParaRPr lang="en-US" sz="2000" dirty="0"/>
          </a:p>
          <a:p>
            <a:pPr>
              <a:lnSpc>
                <a:spcPts val="2900"/>
              </a:lnSpc>
            </a:pPr>
            <a:r>
              <a:rPr lang="en-US" sz="2000" dirty="0" smtClean="0">
                <a:solidFill>
                  <a:srgbClr val="475569"/>
                </a:solidFill>
              </a:rPr>
              <a:t> </a:t>
            </a:r>
            <a:r>
              <a:rPr lang="en-US" sz="2000" dirty="0" err="1" smtClean="0">
                <a:solidFill>
                  <a:srgbClr val="475569"/>
                </a:solidFill>
              </a:rPr>
              <a:t>Ranan</a:t>
            </a:r>
            <a:r>
              <a:rPr lang="en-US" sz="2000" dirty="0" smtClean="0">
                <a:solidFill>
                  <a:srgbClr val="475569"/>
                </a:solidFill>
              </a:rPr>
              <a:t> </a:t>
            </a:r>
            <a:r>
              <a:rPr lang="en-US" sz="2000" dirty="0" err="1" smtClean="0">
                <a:solidFill>
                  <a:srgbClr val="475569"/>
                </a:solidFill>
              </a:rPr>
              <a:t>Magdala</a:t>
            </a:r>
            <a:r>
              <a:rPr lang="en-US" sz="2000" dirty="0" smtClean="0">
                <a:solidFill>
                  <a:srgbClr val="475569"/>
                </a:solidFill>
              </a:rPr>
              <a:t> </a:t>
            </a:r>
            <a:r>
              <a:rPr lang="en-US" sz="2000" dirty="0">
                <a:solidFill>
                  <a:srgbClr val="475569"/>
                </a:solidFill>
              </a:rPr>
              <a:t>(</a:t>
            </a:r>
            <a:r>
              <a:rPr lang="en-US" sz="2000" dirty="0" smtClean="0">
                <a:solidFill>
                  <a:srgbClr val="475569"/>
                </a:solidFill>
              </a:rPr>
              <a:t>2420030744)</a:t>
            </a:r>
          </a:p>
          <a:p>
            <a:pPr>
              <a:lnSpc>
                <a:spcPts val="2900"/>
              </a:lnSpc>
            </a:pPr>
            <a:r>
              <a:rPr lang="en-US" sz="2000" dirty="0" smtClean="0">
                <a:solidFill>
                  <a:srgbClr val="475569"/>
                </a:solidFill>
              </a:rPr>
              <a:t>Surya </a:t>
            </a:r>
            <a:r>
              <a:rPr lang="en-US" sz="2000" dirty="0" err="1" smtClean="0">
                <a:solidFill>
                  <a:srgbClr val="475569"/>
                </a:solidFill>
              </a:rPr>
              <a:t>Teja</a:t>
            </a:r>
            <a:r>
              <a:rPr lang="en-US" sz="2000" dirty="0" smtClean="0">
                <a:solidFill>
                  <a:srgbClr val="475569"/>
                </a:solidFill>
              </a:rPr>
              <a:t> </a:t>
            </a:r>
            <a:r>
              <a:rPr lang="en-US" sz="2000" dirty="0">
                <a:solidFill>
                  <a:srgbClr val="475569"/>
                </a:solidFill>
              </a:rPr>
              <a:t>(</a:t>
            </a:r>
            <a:r>
              <a:rPr lang="en-US" sz="2000" dirty="0" smtClean="0">
                <a:solidFill>
                  <a:srgbClr val="475569"/>
                </a:solidFill>
              </a:rPr>
              <a:t>2420030326)</a:t>
            </a:r>
            <a:endParaRPr lang="en-US" sz="19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3798" y="1056025"/>
            <a:ext cx="5609749" cy="701278"/>
          </a:xfrm>
          <a:prstGeom prst="rect">
            <a:avLst/>
          </a:prstGeom>
          <a:noFill/>
          <a:ln/>
        </p:spPr>
        <p:txBody>
          <a:bodyPr wrap="none" lIns="0" tIns="0" rIns="0" bIns="0" rtlCol="0" anchor="t"/>
          <a:lstStyle/>
          <a:p>
            <a:pPr marL="0" indent="0" algn="l">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Project Abstract</a:t>
            </a:r>
            <a:endParaRPr lang="en-US" sz="4400" dirty="0"/>
          </a:p>
        </p:txBody>
      </p:sp>
      <p:sp>
        <p:nvSpPr>
          <p:cNvPr id="3" name="Shape 1"/>
          <p:cNvSpPr/>
          <p:nvPr/>
        </p:nvSpPr>
        <p:spPr>
          <a:xfrm>
            <a:off x="782002" y="2236230"/>
            <a:ext cx="6327934" cy="1793558"/>
          </a:xfrm>
          <a:prstGeom prst="roundRect">
            <a:avLst>
              <a:gd name="adj" fmla="val 2064"/>
            </a:avLst>
          </a:prstGeom>
          <a:solidFill>
            <a:srgbClr val="FFFFFF"/>
          </a:solidFill>
          <a:ln w="30480">
            <a:solidFill>
              <a:srgbClr val="D8D4D4"/>
            </a:solidFill>
            <a:prstDash val="solid"/>
          </a:ln>
        </p:spPr>
      </p:sp>
      <p:sp>
        <p:nvSpPr>
          <p:cNvPr id="4" name="Text 2"/>
          <p:cNvSpPr/>
          <p:nvPr/>
        </p:nvSpPr>
        <p:spPr>
          <a:xfrm>
            <a:off x="1141095" y="2422565"/>
            <a:ext cx="2804874" cy="350639"/>
          </a:xfrm>
          <a:prstGeom prst="rect">
            <a:avLst/>
          </a:prstGeom>
          <a:noFill/>
          <a:ln/>
        </p:spPr>
        <p:txBody>
          <a:bodyPr wrap="none" lIns="0" tIns="0" rIns="0" bIns="0" rtlCol="0" anchor="t"/>
          <a:lstStyle/>
          <a:p>
            <a:pPr>
              <a:lnSpc>
                <a:spcPts val="2750"/>
              </a:lnSpc>
            </a:pPr>
            <a:r>
              <a:rPr lang="en-US" sz="2000" dirty="0" smtClean="0">
                <a:latin typeface="Montserrat Bold" panose="020B0604020202020204" charset="0"/>
              </a:rPr>
              <a:t>Concept</a:t>
            </a:r>
          </a:p>
          <a:p>
            <a:pPr>
              <a:lnSpc>
                <a:spcPts val="2750"/>
              </a:lnSpc>
            </a:pPr>
            <a:r>
              <a:rPr lang="en-US" sz="2000" dirty="0" smtClean="0"/>
              <a:t>It shows how a process moves through stages </a:t>
            </a:r>
            <a:r>
              <a:rPr lang="en-US" sz="2000" dirty="0" smtClean="0"/>
              <a:t>like</a:t>
            </a:r>
          </a:p>
          <a:p>
            <a:pPr>
              <a:lnSpc>
                <a:spcPts val="2750"/>
              </a:lnSpc>
            </a:pPr>
            <a:r>
              <a:rPr lang="en-US" sz="2000" b="1" dirty="0" smtClean="0"/>
              <a:t>new</a:t>
            </a:r>
            <a:r>
              <a:rPr lang="en-US" sz="2000" b="1" dirty="0" smtClean="0"/>
              <a:t>, ready, running, waiting, and terminated</a:t>
            </a:r>
            <a:r>
              <a:rPr lang="en-US" sz="2000" dirty="0" smtClean="0"/>
              <a:t> in an </a:t>
            </a:r>
            <a:endParaRPr lang="en-US" sz="2000" dirty="0" smtClean="0"/>
          </a:p>
          <a:p>
            <a:pPr>
              <a:lnSpc>
                <a:spcPts val="2750"/>
              </a:lnSpc>
            </a:pPr>
            <a:r>
              <a:rPr lang="en-US" sz="2000" dirty="0" smtClean="0"/>
              <a:t>operating </a:t>
            </a:r>
            <a:r>
              <a:rPr lang="en-US" sz="2000" dirty="0" smtClean="0"/>
              <a:t>system.</a:t>
            </a:r>
            <a:endParaRPr lang="en-US" sz="2000" dirty="0" smtClean="0">
              <a:latin typeface="Montserrat Bold" panose="020B0604020202020204" charset="0"/>
            </a:endParaRPr>
          </a:p>
          <a:p>
            <a:pPr>
              <a:lnSpc>
                <a:spcPts val="2750"/>
              </a:lnSpc>
            </a:pPr>
            <a:endParaRPr lang="en-US" sz="2000" dirty="0">
              <a:latin typeface="Montserrat Bold" panose="020B0604020202020204" charset="0"/>
            </a:endParaRPr>
          </a:p>
        </p:txBody>
      </p:sp>
      <p:sp>
        <p:nvSpPr>
          <p:cNvPr id="5" name="Text 3"/>
          <p:cNvSpPr/>
          <p:nvPr/>
        </p:nvSpPr>
        <p:spPr>
          <a:xfrm>
            <a:off x="1059298" y="2773204"/>
            <a:ext cx="5773341" cy="740331"/>
          </a:xfrm>
          <a:prstGeom prst="rect">
            <a:avLst/>
          </a:prstGeom>
          <a:noFill/>
          <a:ln/>
        </p:spPr>
        <p:txBody>
          <a:bodyPr wrap="square" lIns="0" tIns="0" rIns="0" bIns="0" rtlCol="0" anchor="t"/>
          <a:lstStyle/>
          <a:p>
            <a:pPr>
              <a:lnSpc>
                <a:spcPts val="2900"/>
              </a:lnSpc>
            </a:pPr>
            <a:endParaRPr lang="en-US" sz="1900" dirty="0"/>
          </a:p>
        </p:txBody>
      </p:sp>
      <p:sp>
        <p:nvSpPr>
          <p:cNvPr id="6" name="Shape 4"/>
          <p:cNvSpPr/>
          <p:nvPr/>
        </p:nvSpPr>
        <p:spPr>
          <a:xfrm>
            <a:off x="7438549" y="2145268"/>
            <a:ext cx="6328053" cy="1793558"/>
          </a:xfrm>
          <a:prstGeom prst="roundRect">
            <a:avLst>
              <a:gd name="adj" fmla="val 2064"/>
            </a:avLst>
          </a:prstGeom>
          <a:solidFill>
            <a:srgbClr val="FFFFFF"/>
          </a:solidFill>
          <a:ln w="30480">
            <a:solidFill>
              <a:srgbClr val="D8D4D4"/>
            </a:solidFill>
            <a:prstDash val="solid"/>
          </a:ln>
        </p:spPr>
      </p:sp>
      <p:sp>
        <p:nvSpPr>
          <p:cNvPr id="7" name="Text 5"/>
          <p:cNvSpPr/>
          <p:nvPr/>
        </p:nvSpPr>
        <p:spPr>
          <a:xfrm>
            <a:off x="7659528" y="2431910"/>
            <a:ext cx="2987873" cy="350639"/>
          </a:xfrm>
          <a:prstGeom prst="rect">
            <a:avLst/>
          </a:prstGeom>
          <a:noFill/>
          <a:ln/>
        </p:spPr>
        <p:txBody>
          <a:bodyPr wrap="none" lIns="0" tIns="0" rIns="0" bIns="0" rtlCol="0" anchor="t"/>
          <a:lstStyle/>
          <a:p>
            <a:pPr>
              <a:lnSpc>
                <a:spcPts val="2750"/>
              </a:lnSpc>
            </a:pPr>
            <a:r>
              <a:rPr lang="en-US" sz="2400" dirty="0" smtClean="0">
                <a:latin typeface="Montserrat Bold" panose="020B0604020202020204" charset="0"/>
              </a:rPr>
              <a:t> Algorithm</a:t>
            </a:r>
          </a:p>
          <a:p>
            <a:pPr>
              <a:lnSpc>
                <a:spcPts val="2750"/>
              </a:lnSpc>
            </a:pPr>
            <a:endParaRPr lang="en-US" sz="2200" dirty="0">
              <a:latin typeface="Montserrat Bold" panose="020B0604020202020204" charset="0"/>
            </a:endParaRPr>
          </a:p>
        </p:txBody>
      </p:sp>
      <p:sp>
        <p:nvSpPr>
          <p:cNvPr id="8" name="Text 6"/>
          <p:cNvSpPr/>
          <p:nvPr/>
        </p:nvSpPr>
        <p:spPr>
          <a:xfrm>
            <a:off x="7633989" y="2782549"/>
            <a:ext cx="5773460" cy="740331"/>
          </a:xfrm>
          <a:prstGeom prst="rect">
            <a:avLst/>
          </a:prstGeom>
          <a:noFill/>
          <a:ln/>
        </p:spPr>
        <p:txBody>
          <a:bodyPr wrap="square" lIns="0" tIns="0" rIns="0" bIns="0" rtlCol="0" anchor="t"/>
          <a:lstStyle/>
          <a:p>
            <a:pPr>
              <a:lnSpc>
                <a:spcPts val="2900"/>
              </a:lnSpc>
            </a:pPr>
            <a:r>
              <a:rPr lang="en-US" sz="2000" dirty="0" smtClean="0"/>
              <a:t>Take processes as input, schedule them using an algorithm, execute while updating states, and repeat until all are completed.</a:t>
            </a:r>
            <a:r>
              <a:rPr lang="en-US" sz="2000" dirty="0" smtClean="0"/>
              <a:t>.</a:t>
            </a:r>
            <a:endParaRPr lang="en-US" sz="1900" dirty="0"/>
          </a:p>
        </p:txBody>
      </p:sp>
      <p:sp>
        <p:nvSpPr>
          <p:cNvPr id="9" name="Shape 7"/>
          <p:cNvSpPr/>
          <p:nvPr/>
        </p:nvSpPr>
        <p:spPr>
          <a:xfrm>
            <a:off x="863798" y="4185642"/>
            <a:ext cx="6327934" cy="1423392"/>
          </a:xfrm>
          <a:prstGeom prst="roundRect">
            <a:avLst>
              <a:gd name="adj" fmla="val 2601"/>
            </a:avLst>
          </a:prstGeom>
          <a:solidFill>
            <a:srgbClr val="FFFFFF"/>
          </a:solidFill>
          <a:ln w="30480">
            <a:solidFill>
              <a:srgbClr val="D8D4D4"/>
            </a:solidFill>
            <a:prstDash val="solid"/>
          </a:ln>
        </p:spPr>
      </p:sp>
      <p:sp>
        <p:nvSpPr>
          <p:cNvPr id="10" name="Text 8"/>
          <p:cNvSpPr/>
          <p:nvPr/>
        </p:nvSpPr>
        <p:spPr>
          <a:xfrm>
            <a:off x="1141095" y="4333395"/>
            <a:ext cx="2970490" cy="350639"/>
          </a:xfrm>
          <a:prstGeom prst="rect">
            <a:avLst/>
          </a:prstGeom>
          <a:noFill/>
          <a:ln/>
        </p:spPr>
        <p:txBody>
          <a:bodyPr wrap="none" lIns="0" tIns="0" rIns="0" bIns="0" rtlCol="0" anchor="t"/>
          <a:lstStyle/>
          <a:p>
            <a:pPr>
              <a:lnSpc>
                <a:spcPts val="2750"/>
              </a:lnSpc>
            </a:pPr>
            <a:r>
              <a:rPr lang="en-US" sz="2400" dirty="0">
                <a:latin typeface="Montserrat Bold" panose="020B0604020202020204" charset="0"/>
              </a:rPr>
              <a:t>Simulator Design</a:t>
            </a:r>
            <a:endParaRPr lang="en-US" sz="2200" dirty="0">
              <a:latin typeface="Montserrat Bold" panose="020B0604020202020204" charset="0"/>
            </a:endParaRPr>
          </a:p>
        </p:txBody>
      </p:sp>
      <p:sp>
        <p:nvSpPr>
          <p:cNvPr id="11" name="Text 9"/>
          <p:cNvSpPr/>
          <p:nvPr/>
        </p:nvSpPr>
        <p:spPr>
          <a:xfrm>
            <a:off x="1059298" y="4728569"/>
            <a:ext cx="5579745" cy="657581"/>
          </a:xfrm>
          <a:prstGeom prst="rect">
            <a:avLst/>
          </a:prstGeom>
          <a:noFill/>
          <a:ln/>
        </p:spPr>
        <p:txBody>
          <a:bodyPr wrap="none" lIns="0" tIns="0" rIns="0" bIns="0" rtlCol="0" anchor="t"/>
          <a:lstStyle/>
          <a:p>
            <a:pPr>
              <a:lnSpc>
                <a:spcPts val="2900"/>
              </a:lnSpc>
            </a:pPr>
            <a:r>
              <a:rPr lang="en-US" sz="2000" dirty="0" smtClean="0"/>
              <a:t>Takes process inputs, schedules them via an algorithm, </a:t>
            </a:r>
            <a:endParaRPr lang="en-US" sz="2000" dirty="0" smtClean="0"/>
          </a:p>
          <a:p>
            <a:pPr>
              <a:lnSpc>
                <a:spcPts val="2900"/>
              </a:lnSpc>
            </a:pPr>
            <a:r>
              <a:rPr lang="en-US" sz="2000" dirty="0" smtClean="0"/>
              <a:t>executes </a:t>
            </a:r>
            <a:r>
              <a:rPr lang="en-US" sz="2000" dirty="0" smtClean="0"/>
              <a:t>while tracking states, </a:t>
            </a:r>
            <a:r>
              <a:rPr lang="en-US" sz="2000" dirty="0" smtClean="0"/>
              <a:t>outputs performance results</a:t>
            </a:r>
            <a:endParaRPr lang="en-US" sz="2000" dirty="0"/>
          </a:p>
          <a:p>
            <a:pPr marL="0" indent="0" algn="l">
              <a:lnSpc>
                <a:spcPts val="2900"/>
              </a:lnSpc>
              <a:buNone/>
            </a:pPr>
            <a:endParaRPr lang="en-US" sz="1900" dirty="0"/>
          </a:p>
        </p:txBody>
      </p:sp>
      <p:sp>
        <p:nvSpPr>
          <p:cNvPr id="12" name="Shape 10"/>
          <p:cNvSpPr/>
          <p:nvPr/>
        </p:nvSpPr>
        <p:spPr>
          <a:xfrm>
            <a:off x="7455217" y="4170403"/>
            <a:ext cx="6328053" cy="1423392"/>
          </a:xfrm>
          <a:prstGeom prst="roundRect">
            <a:avLst>
              <a:gd name="adj" fmla="val 2601"/>
            </a:avLst>
          </a:prstGeom>
          <a:solidFill>
            <a:srgbClr val="FFFFFF"/>
          </a:solidFill>
          <a:ln w="30480">
            <a:solidFill>
              <a:srgbClr val="D8D4D4"/>
            </a:solidFill>
            <a:prstDash val="solid"/>
          </a:ln>
        </p:spPr>
      </p:sp>
      <p:sp>
        <p:nvSpPr>
          <p:cNvPr id="13" name="Text 11"/>
          <p:cNvSpPr/>
          <p:nvPr/>
        </p:nvSpPr>
        <p:spPr>
          <a:xfrm>
            <a:off x="7680662" y="4343044"/>
            <a:ext cx="2875240" cy="350639"/>
          </a:xfrm>
          <a:prstGeom prst="rect">
            <a:avLst/>
          </a:prstGeom>
          <a:noFill/>
          <a:ln/>
        </p:spPr>
        <p:txBody>
          <a:bodyPr wrap="none" lIns="0" tIns="0" rIns="0" bIns="0" rtlCol="0" anchor="t"/>
          <a:lstStyle/>
          <a:p>
            <a:pPr>
              <a:lnSpc>
                <a:spcPts val="2750"/>
              </a:lnSpc>
            </a:pPr>
            <a:r>
              <a:rPr lang="en-US" sz="2400" dirty="0" smtClean="0">
                <a:latin typeface="Montserrat Bold" panose="020B0604020202020204" charset="0"/>
              </a:rPr>
              <a:t> </a:t>
            </a:r>
            <a:r>
              <a:rPr lang="en-US" sz="2400" dirty="0">
                <a:latin typeface="Montserrat Bold" panose="020B0604020202020204" charset="0"/>
              </a:rPr>
              <a:t>Calculation</a:t>
            </a:r>
            <a:endParaRPr lang="en-US" sz="2200" dirty="0">
              <a:latin typeface="Montserrat Bold" panose="020B0604020202020204" charset="0"/>
            </a:endParaRPr>
          </a:p>
        </p:txBody>
      </p:sp>
      <p:sp>
        <p:nvSpPr>
          <p:cNvPr id="14" name="Text 12"/>
          <p:cNvSpPr/>
          <p:nvPr/>
        </p:nvSpPr>
        <p:spPr>
          <a:xfrm>
            <a:off x="7633989" y="4740177"/>
            <a:ext cx="5773460" cy="370165"/>
          </a:xfrm>
          <a:prstGeom prst="rect">
            <a:avLst/>
          </a:prstGeom>
          <a:noFill/>
          <a:ln/>
        </p:spPr>
        <p:txBody>
          <a:bodyPr wrap="none" lIns="0" tIns="0" rIns="0" bIns="0" rtlCol="0" anchor="t"/>
          <a:lstStyle/>
          <a:p>
            <a:pPr>
              <a:lnSpc>
                <a:spcPts val="2900"/>
              </a:lnSpc>
            </a:pPr>
            <a:r>
              <a:rPr lang="en-US" sz="2000" dirty="0" smtClean="0"/>
              <a:t>Turnaround Time (TAT) = Completion Time − Arrival Time</a:t>
            </a:r>
            <a:r>
              <a:rPr lang="en-US" sz="2000" dirty="0" smtClean="0"/>
              <a:t>.</a:t>
            </a:r>
            <a:r>
              <a:rPr lang="en-US" sz="1900" dirty="0" smtClean="0">
                <a:solidFill>
                  <a:srgbClr val="3D3838"/>
                </a:solidFill>
                <a:latin typeface="Source Sans 3" pitchFamily="34" charset="0"/>
                <a:ea typeface="Source Sans 3" pitchFamily="34" charset="-122"/>
                <a:cs typeface="Source Sans 3" pitchFamily="34" charset="-120"/>
              </a:rPr>
              <a:t>.</a:t>
            </a:r>
            <a:endParaRPr lang="en-US" sz="1900" dirty="0"/>
          </a:p>
        </p:txBody>
      </p:sp>
      <p:sp>
        <p:nvSpPr>
          <p:cNvPr id="15" name="Shape 13"/>
          <p:cNvSpPr/>
          <p:nvPr/>
        </p:nvSpPr>
        <p:spPr>
          <a:xfrm>
            <a:off x="848559" y="5938719"/>
            <a:ext cx="6327934" cy="1423392"/>
          </a:xfrm>
          <a:prstGeom prst="roundRect">
            <a:avLst>
              <a:gd name="adj" fmla="val 2601"/>
            </a:avLst>
          </a:prstGeom>
          <a:solidFill>
            <a:srgbClr val="FFFFFF"/>
          </a:solidFill>
          <a:ln w="30480">
            <a:solidFill>
              <a:srgbClr val="D8D4D4"/>
            </a:solidFill>
            <a:prstDash val="solid"/>
          </a:ln>
        </p:spPr>
      </p:sp>
      <p:sp>
        <p:nvSpPr>
          <p:cNvPr id="16" name="Text 14"/>
          <p:cNvSpPr/>
          <p:nvPr/>
        </p:nvSpPr>
        <p:spPr>
          <a:xfrm>
            <a:off x="1141094" y="6069326"/>
            <a:ext cx="2804874" cy="350639"/>
          </a:xfrm>
          <a:prstGeom prst="rect">
            <a:avLst/>
          </a:prstGeom>
          <a:noFill/>
          <a:ln/>
        </p:spPr>
        <p:txBody>
          <a:bodyPr wrap="none" lIns="0" tIns="0" rIns="0" bIns="0" rtlCol="0" anchor="t"/>
          <a:lstStyle/>
          <a:p>
            <a:pPr>
              <a:lnSpc>
                <a:spcPts val="2750"/>
              </a:lnSpc>
            </a:pPr>
            <a:r>
              <a:rPr lang="en-US" sz="2400" dirty="0">
                <a:latin typeface="Montserrat Bold" panose="020B0604020202020204" charset="0"/>
              </a:rPr>
              <a:t>Learning Outcome</a:t>
            </a:r>
            <a:endParaRPr lang="en-US" sz="2200" dirty="0">
              <a:latin typeface="Montserrat Bold" panose="020B0604020202020204" charset="0"/>
            </a:endParaRPr>
          </a:p>
        </p:txBody>
      </p:sp>
      <p:sp>
        <p:nvSpPr>
          <p:cNvPr id="17" name="Text 15"/>
          <p:cNvSpPr/>
          <p:nvPr/>
        </p:nvSpPr>
        <p:spPr>
          <a:xfrm>
            <a:off x="920649" y="6482894"/>
            <a:ext cx="6050638" cy="427615"/>
          </a:xfrm>
          <a:prstGeom prst="rect">
            <a:avLst/>
          </a:prstGeom>
          <a:noFill/>
          <a:ln/>
        </p:spPr>
        <p:txBody>
          <a:bodyPr wrap="none" lIns="0" tIns="0" rIns="0" bIns="0" rtlCol="0" anchor="t"/>
          <a:lstStyle/>
          <a:p>
            <a:pPr>
              <a:lnSpc>
                <a:spcPts val="2900"/>
              </a:lnSpc>
            </a:pPr>
            <a:r>
              <a:rPr lang="en-US" sz="2000" dirty="0" smtClean="0"/>
              <a:t>Understand process lifecycle and evaluate CPU </a:t>
            </a:r>
            <a:r>
              <a:rPr lang="en-US" sz="2000" dirty="0" smtClean="0"/>
              <a:t>scheduling</a:t>
            </a:r>
          </a:p>
          <a:p>
            <a:pPr>
              <a:lnSpc>
                <a:spcPts val="2900"/>
              </a:lnSpc>
            </a:pPr>
            <a:r>
              <a:rPr lang="en-US" sz="2000" dirty="0" smtClean="0"/>
              <a:t> </a:t>
            </a:r>
            <a:r>
              <a:rPr lang="en-US" sz="2000" dirty="0" smtClean="0"/>
              <a:t>performance using key metrics.</a:t>
            </a:r>
          </a:p>
          <a:p>
            <a:pPr>
              <a:lnSpc>
                <a:spcPts val="2900"/>
              </a:lnSpc>
            </a:pPr>
            <a:r>
              <a:rPr lang="en-US" sz="2000" dirty="0" smtClean="0"/>
              <a:t>.</a:t>
            </a:r>
            <a:endParaRPr lang="en-US" sz="1900" dirty="0"/>
          </a:p>
        </p:txBody>
      </p:sp>
      <p:sp>
        <p:nvSpPr>
          <p:cNvPr id="18" name="Shape 16"/>
          <p:cNvSpPr/>
          <p:nvPr/>
        </p:nvSpPr>
        <p:spPr>
          <a:xfrm>
            <a:off x="7438549" y="5855851"/>
            <a:ext cx="6328053" cy="1423392"/>
          </a:xfrm>
          <a:prstGeom prst="roundRect">
            <a:avLst>
              <a:gd name="adj" fmla="val 2601"/>
            </a:avLst>
          </a:prstGeom>
          <a:solidFill>
            <a:srgbClr val="FFFFFF"/>
          </a:solidFill>
          <a:ln w="30480">
            <a:solidFill>
              <a:srgbClr val="D8D4D4"/>
            </a:solidFill>
            <a:prstDash val="solid"/>
          </a:ln>
        </p:spPr>
      </p:sp>
      <p:sp>
        <p:nvSpPr>
          <p:cNvPr id="19" name="Text 17"/>
          <p:cNvSpPr/>
          <p:nvPr/>
        </p:nvSpPr>
        <p:spPr>
          <a:xfrm>
            <a:off x="7659528" y="6010514"/>
            <a:ext cx="2804874" cy="350639"/>
          </a:xfrm>
          <a:prstGeom prst="rect">
            <a:avLst/>
          </a:prstGeom>
          <a:noFill/>
          <a:ln/>
        </p:spPr>
        <p:txBody>
          <a:bodyPr wrap="none" lIns="0" tIns="0" rIns="0" bIns="0" rtlCol="0" anchor="t"/>
          <a:lstStyle/>
          <a:p>
            <a:pPr>
              <a:lnSpc>
                <a:spcPts val="2750"/>
              </a:lnSpc>
            </a:pPr>
            <a:r>
              <a:rPr lang="en-US" sz="2400" dirty="0">
                <a:latin typeface="Montserrat Bold" panose="020B0604020202020204" charset="0"/>
              </a:rPr>
              <a:t>Applications</a:t>
            </a:r>
            <a:endParaRPr lang="en-US" sz="2200" dirty="0">
              <a:latin typeface="Montserrat Bold" panose="020B0604020202020204" charset="0"/>
            </a:endParaRPr>
          </a:p>
        </p:txBody>
      </p:sp>
      <p:sp>
        <p:nvSpPr>
          <p:cNvPr id="20" name="Text 18"/>
          <p:cNvSpPr/>
          <p:nvPr/>
        </p:nvSpPr>
        <p:spPr>
          <a:xfrm>
            <a:off x="7593209" y="6511618"/>
            <a:ext cx="5773460" cy="370165"/>
          </a:xfrm>
          <a:prstGeom prst="rect">
            <a:avLst/>
          </a:prstGeom>
          <a:noFill/>
          <a:ln/>
        </p:spPr>
        <p:txBody>
          <a:bodyPr wrap="none" lIns="0" tIns="0" rIns="0" bIns="0" rtlCol="0" anchor="t"/>
          <a:lstStyle/>
          <a:p>
            <a:pPr>
              <a:lnSpc>
                <a:spcPts val="2900"/>
              </a:lnSpc>
            </a:pPr>
            <a:r>
              <a:rPr lang="en-US" sz="2000" dirty="0" smtClean="0"/>
              <a:t>Used in operating systems to optimize CPU scheduling and </a:t>
            </a:r>
            <a:endParaRPr lang="en-US" sz="2000" dirty="0" smtClean="0"/>
          </a:p>
          <a:p>
            <a:pPr>
              <a:lnSpc>
                <a:spcPts val="2900"/>
              </a:lnSpc>
            </a:pPr>
            <a:r>
              <a:rPr lang="en-US" sz="2000" dirty="0" smtClean="0"/>
              <a:t>improve </a:t>
            </a:r>
            <a:r>
              <a:rPr lang="en-US" sz="2000" dirty="0" smtClean="0"/>
              <a:t>system performance.</a:t>
            </a:r>
            <a:endParaRPr lang="en-US" sz="19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31076" y="693683"/>
            <a:ext cx="13794827" cy="5509200"/>
          </a:xfrm>
          <a:prstGeom prst="rect">
            <a:avLst/>
          </a:prstGeom>
          <a:noFill/>
        </p:spPr>
        <p:txBody>
          <a:bodyPr wrap="square" rtlCol="0">
            <a:spAutoFit/>
          </a:bodyPr>
          <a:lstStyle/>
          <a:p>
            <a:r>
              <a:rPr lang="en-IN" sz="2800" b="1" dirty="0" smtClean="0"/>
              <a:t>Problem Statement:</a:t>
            </a:r>
          </a:p>
          <a:p>
            <a:endParaRPr lang="en-US" sz="2800" dirty="0" smtClean="0"/>
          </a:p>
          <a:p>
            <a:pPr>
              <a:buFont typeface="Arial" pitchFamily="34" charset="0"/>
              <a:buChar char="•"/>
            </a:pPr>
            <a:r>
              <a:rPr lang="en-US" sz="2800" dirty="0" smtClean="0"/>
              <a:t> </a:t>
            </a:r>
            <a:r>
              <a:rPr lang="en-US" sz="2400" dirty="0" smtClean="0"/>
              <a:t>Build a tool that monitors real-time process lifecycle events (creation, execution, termination) and simulates different CPU scheduling algorithms (FCFS, SJF, Round Robin) on the observed workload. The system should compare scheduling efficiency and visualize metrics like turnaround time, waiting time, and CPU </a:t>
            </a:r>
            <a:r>
              <a:rPr lang="en-US" sz="2400" dirty="0" smtClean="0"/>
              <a:t>utilization</a:t>
            </a:r>
            <a:endParaRPr lang="en-US" sz="2800" dirty="0" smtClean="0"/>
          </a:p>
          <a:p>
            <a:pPr>
              <a:buFont typeface="Arial" pitchFamily="34" charset="0"/>
              <a:buChar char="•"/>
            </a:pPr>
            <a:r>
              <a:rPr lang="en-US" sz="2400" dirty="0" smtClean="0"/>
              <a:t>In operating systems, understanding how processes move through different lifecycle stages and how CPU scheduling algorithms work is often complex and not visually clear. </a:t>
            </a:r>
            <a:endParaRPr lang="en-US" sz="2400" dirty="0" smtClean="0"/>
          </a:p>
          <a:p>
            <a:pPr>
              <a:buFont typeface="Arial" pitchFamily="34" charset="0"/>
              <a:buChar char="•"/>
            </a:pPr>
            <a:r>
              <a:rPr lang="en-US" sz="2400" dirty="0" smtClean="0"/>
              <a:t>Students </a:t>
            </a:r>
            <a:r>
              <a:rPr lang="en-US" sz="2400" dirty="0" smtClean="0"/>
              <a:t>and developers find it difficult to compare algorithms like FCFS, SJF, and Round Robin in terms of performance. </a:t>
            </a:r>
            <a:br>
              <a:rPr lang="en-US" sz="2400" dirty="0" smtClean="0"/>
            </a:br>
            <a:r>
              <a:rPr lang="en-US" sz="2400" dirty="0" smtClean="0"/>
              <a:t>There </a:t>
            </a:r>
            <a:r>
              <a:rPr lang="en-US" sz="2400" dirty="0" smtClean="0"/>
              <a:t>is no simple tool that clearly shows process state transitions and calculates key metrics like waiting time and turnaround time in an easy-to-understand way.</a:t>
            </a:r>
          </a:p>
          <a:p>
            <a:pPr>
              <a:buFont typeface="Arial" pitchFamily="34" charset="0"/>
              <a:buChar char="•"/>
            </a:pPr>
            <a:r>
              <a:rPr lang="en-US" sz="2400" dirty="0" smtClean="0"/>
              <a:t>Hence, a simulator is needed to visualize process execution, analyze scheduling performance, and improve learning and system efficiency.</a:t>
            </a:r>
          </a:p>
          <a:p>
            <a:endParaRPr lang="en-US" sz="2800" b="1" dirty="0"/>
          </a:p>
        </p:txBody>
      </p:sp>
    </p:spTree>
    <p:extLst>
      <p:ext uri="{BB962C8B-B14F-4D97-AF65-F5344CB8AC3E}">
        <p14:creationId xmlns:p14="http://schemas.microsoft.com/office/powerpoint/2010/main" xmlns="" val="35677966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8372" y="536028"/>
            <a:ext cx="13432221" cy="5878532"/>
          </a:xfrm>
          <a:prstGeom prst="rect">
            <a:avLst/>
          </a:prstGeom>
          <a:noFill/>
        </p:spPr>
        <p:txBody>
          <a:bodyPr wrap="square" rtlCol="0">
            <a:spAutoFit/>
          </a:bodyPr>
          <a:lstStyle/>
          <a:p>
            <a:endParaRPr lang="en-US" sz="2800" b="1" dirty="0" smtClean="0"/>
          </a:p>
          <a:p>
            <a:r>
              <a:rPr lang="en-US" sz="2800" b="1" dirty="0" smtClean="0"/>
              <a:t>Project </a:t>
            </a:r>
            <a:r>
              <a:rPr lang="en-US" sz="2800" b="1" dirty="0" smtClean="0"/>
              <a:t>Overview </a:t>
            </a:r>
            <a:r>
              <a:rPr lang="en-US" sz="2800" b="1" dirty="0" smtClean="0"/>
              <a:t>:</a:t>
            </a:r>
          </a:p>
          <a:p>
            <a:endParaRPr lang="en-IN" sz="2800" b="1" dirty="0" smtClean="0"/>
          </a:p>
          <a:p>
            <a:endParaRPr lang="en-US" sz="2800" b="1" dirty="0" smtClean="0"/>
          </a:p>
          <a:p>
            <a:pPr>
              <a:buFont typeface="Arial" pitchFamily="34" charset="0"/>
              <a:buChar char="•"/>
            </a:pPr>
            <a:r>
              <a:rPr lang="en-US" sz="2400" dirty="0" smtClean="0"/>
              <a:t>The </a:t>
            </a:r>
            <a:r>
              <a:rPr lang="en-US" sz="2400" b="1" dirty="0" smtClean="0"/>
              <a:t>Process Lifecycle Analyzer &amp; Scheduler Simulator</a:t>
            </a:r>
            <a:r>
              <a:rPr lang="en-US" sz="2400" dirty="0" smtClean="0"/>
              <a:t> is a tool designed to simulate how processes move through different stages in an operating system</a:t>
            </a:r>
            <a:r>
              <a:rPr lang="en-US" sz="2400" dirty="0" smtClean="0"/>
              <a:t>.</a:t>
            </a:r>
          </a:p>
          <a:p>
            <a:pPr>
              <a:buFont typeface="Arial" pitchFamily="34" charset="0"/>
              <a:buChar char="•"/>
            </a:pPr>
            <a:r>
              <a:rPr lang="en-US" sz="2400" dirty="0" smtClean="0"/>
              <a:t> </a:t>
            </a:r>
            <a:r>
              <a:rPr lang="en-US" sz="2400" dirty="0" smtClean="0"/>
              <a:t>It demonstrates how CPU scheduling algorithms like FCFS, SJF, and Round Robin manage process execution.</a:t>
            </a:r>
          </a:p>
          <a:p>
            <a:pPr>
              <a:buFont typeface="Arial" pitchFamily="34" charset="0"/>
              <a:buChar char="•"/>
            </a:pPr>
            <a:r>
              <a:rPr lang="en-US" sz="2400" dirty="0" smtClean="0"/>
              <a:t>The system takes process details as input, schedules them using selected algorithms, and visually tracks their states (new, ready, running, waiting, terminated). </a:t>
            </a:r>
            <a:endParaRPr lang="en-US" sz="2400" dirty="0" smtClean="0"/>
          </a:p>
          <a:p>
            <a:pPr>
              <a:buFont typeface="Arial" pitchFamily="34" charset="0"/>
              <a:buChar char="•"/>
            </a:pPr>
            <a:r>
              <a:rPr lang="en-US" sz="2400" dirty="0" smtClean="0"/>
              <a:t>It </a:t>
            </a:r>
            <a:r>
              <a:rPr lang="en-US" sz="2400" dirty="0" smtClean="0"/>
              <a:t>also calculates important performance metrics such as waiting time, turnaround time, and CPU utilization.</a:t>
            </a:r>
          </a:p>
          <a:p>
            <a:pPr>
              <a:buFont typeface="Arial" pitchFamily="34" charset="0"/>
              <a:buChar char="•"/>
            </a:pPr>
            <a:r>
              <a:rPr lang="en-US" sz="2400" dirty="0" smtClean="0"/>
              <a:t>This project helps in better understanding of OS concepts and improves analysis of scheduling efficiency in real-time scenarios.</a:t>
            </a:r>
          </a:p>
          <a:p>
            <a:pPr>
              <a:buFont typeface="Arial" pitchFamily="34" charset="0"/>
              <a:buChar char="•"/>
            </a:pPr>
            <a:endParaRPr lang="en-US" sz="2400" dirty="0"/>
          </a:p>
        </p:txBody>
      </p:sp>
    </p:spTree>
    <p:extLst>
      <p:ext uri="{BB962C8B-B14F-4D97-AF65-F5344CB8AC3E}">
        <p14:creationId xmlns:p14="http://schemas.microsoft.com/office/powerpoint/2010/main" xmlns="" val="7244034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4138" y="867103"/>
            <a:ext cx="13637172" cy="5847755"/>
          </a:xfrm>
          <a:prstGeom prst="rect">
            <a:avLst/>
          </a:prstGeom>
          <a:noFill/>
        </p:spPr>
        <p:txBody>
          <a:bodyPr wrap="square" rtlCol="0">
            <a:spAutoFit/>
          </a:bodyPr>
          <a:lstStyle/>
          <a:p>
            <a:r>
              <a:rPr lang="en-US" sz="2800" b="1" dirty="0" smtClean="0"/>
              <a:t>Core Principles </a:t>
            </a:r>
            <a:r>
              <a:rPr lang="en-US" sz="2800" b="1" dirty="0" smtClean="0"/>
              <a:t>:</a:t>
            </a:r>
          </a:p>
          <a:p>
            <a:endParaRPr lang="en-US" sz="2800" dirty="0" smtClean="0"/>
          </a:p>
          <a:p>
            <a:pPr>
              <a:lnSpc>
                <a:spcPct val="250000"/>
              </a:lnSpc>
            </a:pPr>
            <a:r>
              <a:rPr lang="en-US" sz="2400" b="1" dirty="0" smtClean="0"/>
              <a:t>Process Lifecycle Management</a:t>
            </a:r>
            <a:r>
              <a:rPr lang="en-US" sz="2400" dirty="0" smtClean="0"/>
              <a:t> → Track process states (new, ready, running, waiting, terminated). </a:t>
            </a:r>
          </a:p>
          <a:p>
            <a:pPr>
              <a:lnSpc>
                <a:spcPct val="250000"/>
              </a:lnSpc>
            </a:pPr>
            <a:r>
              <a:rPr lang="en-US" sz="2400" b="1" dirty="0" smtClean="0"/>
              <a:t>CPU Scheduling</a:t>
            </a:r>
            <a:r>
              <a:rPr lang="en-US" sz="2400" dirty="0" smtClean="0"/>
              <a:t> → Apply algorithms like FCFS, SJF, and Round Robin. </a:t>
            </a:r>
          </a:p>
          <a:p>
            <a:pPr>
              <a:lnSpc>
                <a:spcPct val="250000"/>
              </a:lnSpc>
            </a:pPr>
            <a:r>
              <a:rPr lang="en-US" sz="2400" b="1" dirty="0" smtClean="0"/>
              <a:t>Efficient Resource Use</a:t>
            </a:r>
            <a:r>
              <a:rPr lang="en-US" sz="2400" dirty="0" smtClean="0"/>
              <a:t> → Optimize CPU utilization and minimize idle time. </a:t>
            </a:r>
          </a:p>
          <a:p>
            <a:pPr>
              <a:lnSpc>
                <a:spcPct val="250000"/>
              </a:lnSpc>
            </a:pPr>
            <a:r>
              <a:rPr lang="en-US" sz="2400" b="1" dirty="0" smtClean="0"/>
              <a:t>Performance Analysis</a:t>
            </a:r>
            <a:r>
              <a:rPr lang="en-US" sz="2400" dirty="0" smtClean="0"/>
              <a:t> → Calculate waiting time, turnaround time, etc. </a:t>
            </a:r>
          </a:p>
          <a:p>
            <a:pPr>
              <a:lnSpc>
                <a:spcPct val="250000"/>
              </a:lnSpc>
            </a:pPr>
            <a:r>
              <a:rPr lang="en-US" sz="2400" b="1" dirty="0" smtClean="0"/>
              <a:t>Visualization</a:t>
            </a:r>
            <a:r>
              <a:rPr lang="en-US" sz="2400" dirty="0" smtClean="0"/>
              <a:t> → Clearly display execution flow (like Gantt chart). </a:t>
            </a:r>
          </a:p>
          <a:p>
            <a:endParaRPr lang="en-US" dirty="0"/>
          </a:p>
        </p:txBody>
      </p:sp>
    </p:spTree>
    <p:extLst>
      <p:ext uri="{BB962C8B-B14F-4D97-AF65-F5344CB8AC3E}">
        <p14:creationId xmlns:p14="http://schemas.microsoft.com/office/powerpoint/2010/main" xmlns="" val="26031377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536028" y="693683"/>
            <a:ext cx="13574110" cy="6155531"/>
          </a:xfrm>
          <a:prstGeom prst="rect">
            <a:avLst/>
          </a:prstGeom>
          <a:noFill/>
        </p:spPr>
        <p:txBody>
          <a:bodyPr wrap="square" rtlCol="0">
            <a:spAutoFit/>
          </a:bodyPr>
          <a:lstStyle/>
          <a:p>
            <a:r>
              <a:rPr lang="en-US" sz="2800" b="1" dirty="0" smtClean="0"/>
              <a:t>Advantages</a:t>
            </a:r>
            <a:r>
              <a:rPr lang="en-US" sz="2800" b="1" dirty="0" smtClean="0"/>
              <a:t>:</a:t>
            </a:r>
          </a:p>
          <a:p>
            <a:endParaRPr lang="en-US" sz="2800" dirty="0" smtClean="0"/>
          </a:p>
          <a:p>
            <a:pPr>
              <a:buFont typeface="Arial" pitchFamily="34" charset="0"/>
              <a:buChar char="•"/>
            </a:pPr>
            <a:r>
              <a:rPr lang="en-US" sz="2400" dirty="0" smtClean="0"/>
              <a:t>Easy understanding of process lifecycle and scheduling concepts </a:t>
            </a:r>
          </a:p>
          <a:p>
            <a:pPr>
              <a:buFont typeface="Arial" pitchFamily="34" charset="0"/>
              <a:buChar char="•"/>
            </a:pPr>
            <a:r>
              <a:rPr lang="en-US" sz="2400" dirty="0" smtClean="0"/>
              <a:t>Helps compare different CPU scheduling algorithms </a:t>
            </a:r>
          </a:p>
          <a:p>
            <a:pPr>
              <a:buFont typeface="Arial" pitchFamily="34" charset="0"/>
              <a:buChar char="•"/>
            </a:pPr>
            <a:r>
              <a:rPr lang="en-US" sz="2400" dirty="0" smtClean="0"/>
              <a:t>Improves analysis using performance metrics </a:t>
            </a:r>
          </a:p>
          <a:p>
            <a:pPr>
              <a:buFont typeface="Arial" pitchFamily="34" charset="0"/>
              <a:buChar char="•"/>
            </a:pPr>
            <a:r>
              <a:rPr lang="en-US" sz="2400" dirty="0" smtClean="0"/>
              <a:t>Provides visual representation (Gantt charts) </a:t>
            </a:r>
          </a:p>
          <a:p>
            <a:pPr>
              <a:buFont typeface="Arial" pitchFamily="34" charset="0"/>
              <a:buChar char="•"/>
            </a:pPr>
            <a:r>
              <a:rPr lang="en-US" sz="2400" dirty="0" smtClean="0"/>
              <a:t>Useful for students and learning purposes </a:t>
            </a:r>
            <a:endParaRPr lang="en-US" sz="2400" dirty="0" smtClean="0"/>
          </a:p>
          <a:p>
            <a:pPr>
              <a:buFont typeface="Arial" pitchFamily="34" charset="0"/>
              <a:buChar char="•"/>
            </a:pPr>
            <a:endParaRPr lang="en-US" sz="2400" dirty="0" smtClean="0"/>
          </a:p>
          <a:p>
            <a:r>
              <a:rPr lang="en-US" sz="2800" b="1" dirty="0" smtClean="0"/>
              <a:t>Limitations</a:t>
            </a:r>
            <a:r>
              <a:rPr lang="en-US" sz="2800" b="1" dirty="0" smtClean="0"/>
              <a:t>:</a:t>
            </a:r>
          </a:p>
          <a:p>
            <a:endParaRPr lang="en-US" sz="2800" dirty="0" smtClean="0"/>
          </a:p>
          <a:p>
            <a:pPr>
              <a:buFont typeface="Arial" pitchFamily="34" charset="0"/>
              <a:buChar char="•"/>
            </a:pPr>
            <a:r>
              <a:rPr lang="en-US" sz="2400" dirty="0" smtClean="0"/>
              <a:t>May not handle real-world complex scenarios </a:t>
            </a:r>
          </a:p>
          <a:p>
            <a:pPr>
              <a:buFont typeface="Arial" pitchFamily="34" charset="0"/>
              <a:buChar char="•"/>
            </a:pPr>
            <a:r>
              <a:rPr lang="en-US" sz="2400" dirty="0" smtClean="0"/>
              <a:t>Limited to predefined scheduling algorithms </a:t>
            </a:r>
          </a:p>
          <a:p>
            <a:pPr>
              <a:buFont typeface="Arial" pitchFamily="34" charset="0"/>
              <a:buChar char="•"/>
            </a:pPr>
            <a:r>
              <a:rPr lang="en-US" sz="2400" dirty="0" smtClean="0"/>
              <a:t>Simulation results may differ from actual systems </a:t>
            </a:r>
          </a:p>
          <a:p>
            <a:pPr>
              <a:buFont typeface="Arial" pitchFamily="34" charset="0"/>
              <a:buChar char="•"/>
            </a:pPr>
            <a:r>
              <a:rPr lang="en-US" sz="2400" dirty="0" smtClean="0"/>
              <a:t>Requires proper input for accurate results </a:t>
            </a:r>
          </a:p>
          <a:p>
            <a:pPr>
              <a:buFont typeface="Arial" pitchFamily="34" charset="0"/>
              <a:buChar char="•"/>
            </a:pPr>
            <a:r>
              <a:rPr lang="en-US" sz="2400" dirty="0" smtClean="0"/>
              <a:t>Less focus on advanced OS features</a:t>
            </a:r>
          </a:p>
          <a:p>
            <a:endParaRPr lang="en-US" dirty="0"/>
          </a:p>
        </p:txBody>
      </p:sp>
    </p:spTree>
    <p:extLst>
      <p:ext uri="{BB962C8B-B14F-4D97-AF65-F5344CB8AC3E}">
        <p14:creationId xmlns:p14="http://schemas.microsoft.com/office/powerpoint/2010/main" xmlns="" val="26624662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026-04-03 084216.png"/>
          <p:cNvPicPr>
            <a:picLocks noChangeAspect="1"/>
          </p:cNvPicPr>
          <p:nvPr/>
        </p:nvPicPr>
        <p:blipFill>
          <a:blip r:embed="rId2"/>
          <a:stretch>
            <a:fillRect/>
          </a:stretch>
        </p:blipFill>
        <p:spPr>
          <a:xfrm>
            <a:off x="1292772" y="1213947"/>
            <a:ext cx="11209283" cy="5943598"/>
          </a:xfrm>
          <a:prstGeom prst="rect">
            <a:avLst/>
          </a:prstGeom>
        </p:spPr>
      </p:pic>
      <p:sp>
        <p:nvSpPr>
          <p:cNvPr id="5" name="TextBox 4"/>
          <p:cNvSpPr txBox="1"/>
          <p:nvPr/>
        </p:nvSpPr>
        <p:spPr>
          <a:xfrm>
            <a:off x="551793" y="409903"/>
            <a:ext cx="5376041" cy="523220"/>
          </a:xfrm>
          <a:prstGeom prst="rect">
            <a:avLst/>
          </a:prstGeom>
          <a:noFill/>
        </p:spPr>
        <p:txBody>
          <a:bodyPr wrap="square" rtlCol="0">
            <a:spAutoFit/>
          </a:bodyPr>
          <a:lstStyle/>
          <a:p>
            <a:r>
              <a:rPr lang="en-IN" sz="2800" b="1" dirty="0" smtClean="0"/>
              <a:t>Project</a:t>
            </a:r>
            <a:r>
              <a:rPr lang="en-IN" dirty="0" smtClean="0"/>
              <a:t> </a:t>
            </a:r>
            <a:r>
              <a:rPr lang="en-IN" sz="2800" b="1" dirty="0" smtClean="0"/>
              <a:t>Workflow</a:t>
            </a:r>
            <a:r>
              <a:rPr lang="en-IN" dirty="0" smtClean="0"/>
              <a:t>:</a:t>
            </a:r>
            <a:endParaRPr lang="en-US" dirty="0"/>
          </a:p>
        </p:txBody>
      </p:sp>
    </p:spTree>
    <p:extLst>
      <p:ext uri="{BB962C8B-B14F-4D97-AF65-F5344CB8AC3E}">
        <p14:creationId xmlns:p14="http://schemas.microsoft.com/office/powerpoint/2010/main" xmlns="" val="1896245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88731" y="1198180"/>
            <a:ext cx="13006552" cy="5970865"/>
          </a:xfrm>
          <a:prstGeom prst="rect">
            <a:avLst/>
          </a:prstGeom>
          <a:noFill/>
        </p:spPr>
        <p:txBody>
          <a:bodyPr wrap="square" rtlCol="0">
            <a:spAutoFit/>
          </a:bodyPr>
          <a:lstStyle/>
          <a:p>
            <a:pPr algn="ctr"/>
            <a:r>
              <a:rPr lang="en-US" sz="2800" dirty="0" smtClean="0"/>
              <a:t>Input Processes</a:t>
            </a:r>
            <a:br>
              <a:rPr lang="en-US" sz="2800" dirty="0" smtClean="0"/>
            </a:br>
            <a:r>
              <a:rPr lang="en-US" sz="2800" dirty="0" smtClean="0"/>
              <a:t>↓</a:t>
            </a:r>
            <a:br>
              <a:rPr lang="en-US" sz="2800" dirty="0" smtClean="0"/>
            </a:br>
            <a:r>
              <a:rPr lang="en-US" sz="2800" dirty="0" smtClean="0"/>
              <a:t>Ready Queue</a:t>
            </a:r>
            <a:br>
              <a:rPr lang="en-US" sz="2800" dirty="0" smtClean="0"/>
            </a:br>
            <a:r>
              <a:rPr lang="en-US" sz="2800" dirty="0" smtClean="0"/>
              <a:t>↓</a:t>
            </a:r>
            <a:br>
              <a:rPr lang="en-US" sz="2800" dirty="0" smtClean="0"/>
            </a:br>
            <a:r>
              <a:rPr lang="en-US" sz="2800" dirty="0" smtClean="0"/>
              <a:t>Select Scheduling Algorithm</a:t>
            </a:r>
            <a:br>
              <a:rPr lang="en-US" sz="2800" dirty="0" smtClean="0"/>
            </a:br>
            <a:r>
              <a:rPr lang="en-US" sz="2800" dirty="0" smtClean="0"/>
              <a:t>↓</a:t>
            </a:r>
            <a:br>
              <a:rPr lang="en-US" sz="2800" dirty="0" smtClean="0"/>
            </a:br>
            <a:r>
              <a:rPr lang="en-US" sz="2800" dirty="0" smtClean="0"/>
              <a:t>Process Execution</a:t>
            </a:r>
            <a:br>
              <a:rPr lang="en-US" sz="2800" dirty="0" smtClean="0"/>
            </a:br>
            <a:r>
              <a:rPr lang="en-US" sz="2800" dirty="0" smtClean="0"/>
              <a:t>↓</a:t>
            </a:r>
            <a:br>
              <a:rPr lang="en-US" sz="2800" dirty="0" smtClean="0"/>
            </a:br>
            <a:r>
              <a:rPr lang="en-US" sz="2800" dirty="0" smtClean="0"/>
              <a:t>State Update (Running → Waiting/Terminated)</a:t>
            </a:r>
            <a:br>
              <a:rPr lang="en-US" sz="2800" dirty="0" smtClean="0"/>
            </a:br>
            <a:r>
              <a:rPr lang="en-US" sz="2800" dirty="0" smtClean="0"/>
              <a:t>↓</a:t>
            </a:r>
            <a:br>
              <a:rPr lang="en-US" sz="2800" dirty="0" smtClean="0"/>
            </a:br>
            <a:r>
              <a:rPr lang="en-US" sz="2800" dirty="0" smtClean="0"/>
              <a:t>Repeat Until Complete</a:t>
            </a:r>
            <a:br>
              <a:rPr lang="en-US" sz="2800" dirty="0" smtClean="0"/>
            </a:br>
            <a:r>
              <a:rPr lang="en-US" sz="2800" dirty="0" smtClean="0"/>
              <a:t>↓</a:t>
            </a:r>
            <a:br>
              <a:rPr lang="en-US" sz="2800" dirty="0" smtClean="0"/>
            </a:br>
            <a:r>
              <a:rPr lang="en-US" sz="2800" dirty="0" smtClean="0"/>
              <a:t>Display Results</a:t>
            </a:r>
          </a:p>
          <a:p>
            <a:endParaRPr lang="en-US" dirty="0"/>
          </a:p>
        </p:txBody>
      </p:sp>
    </p:spTree>
    <p:extLst>
      <p:ext uri="{BB962C8B-B14F-4D97-AF65-F5344CB8AC3E}">
        <p14:creationId xmlns:p14="http://schemas.microsoft.com/office/powerpoint/2010/main" xmlns="" val="34366542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3798" y="2670334"/>
            <a:ext cx="6218277" cy="701278"/>
          </a:xfrm>
          <a:prstGeom prst="rect">
            <a:avLst/>
          </a:prstGeom>
          <a:noFill/>
          <a:ln/>
        </p:spPr>
        <p:txBody>
          <a:bodyPr wrap="none" lIns="0" tIns="0" rIns="0" bIns="0" rtlCol="0" anchor="t"/>
          <a:lstStyle/>
          <a:p>
            <a:pPr marL="0" indent="0" algn="l">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Real World Examples</a:t>
            </a:r>
            <a:endParaRPr lang="en-US" sz="4400" dirty="0"/>
          </a:p>
        </p:txBody>
      </p:sp>
      <p:sp>
        <p:nvSpPr>
          <p:cNvPr id="3" name="Shape 1"/>
          <p:cNvSpPr/>
          <p:nvPr/>
        </p:nvSpPr>
        <p:spPr>
          <a:xfrm>
            <a:off x="863798" y="3865245"/>
            <a:ext cx="555308" cy="555308"/>
          </a:xfrm>
          <a:prstGeom prst="roundRect">
            <a:avLst>
              <a:gd name="adj" fmla="val 6667"/>
            </a:avLst>
          </a:prstGeom>
          <a:solidFill>
            <a:srgbClr val="F2EEEE"/>
          </a:solidFill>
          <a:ln/>
        </p:spPr>
      </p:sp>
      <p:sp>
        <p:nvSpPr>
          <p:cNvPr id="4" name="Text 2"/>
          <p:cNvSpPr/>
          <p:nvPr/>
        </p:nvSpPr>
        <p:spPr>
          <a:xfrm>
            <a:off x="1665923" y="3950018"/>
            <a:ext cx="2804874" cy="350639"/>
          </a:xfrm>
          <a:prstGeom prst="rect">
            <a:avLst/>
          </a:prstGeom>
          <a:noFill/>
          <a:ln/>
        </p:spPr>
        <p:txBody>
          <a:bodyPr wrap="none" lIns="0" tIns="0" rIns="0" bIns="0" rtlCol="0" anchor="t"/>
          <a:lstStyle/>
          <a:p>
            <a:pPr>
              <a:lnSpc>
                <a:spcPts val="2750"/>
              </a:lnSpc>
            </a:pPr>
            <a:r>
              <a:rPr lang="en-US" sz="2400" b="1" dirty="0" smtClean="0"/>
              <a:t>CPU Task Management</a:t>
            </a:r>
            <a:endParaRPr lang="en-US" sz="2200" b="1" dirty="0">
              <a:latin typeface="Montserrat Bold" panose="020B0604020202020204" charset="0"/>
            </a:endParaRPr>
          </a:p>
        </p:txBody>
      </p:sp>
      <p:sp>
        <p:nvSpPr>
          <p:cNvPr id="5" name="Text 3"/>
          <p:cNvSpPr/>
          <p:nvPr/>
        </p:nvSpPr>
        <p:spPr>
          <a:xfrm>
            <a:off x="1665923" y="4448651"/>
            <a:ext cx="3293150" cy="1110496"/>
          </a:xfrm>
          <a:prstGeom prst="rect">
            <a:avLst/>
          </a:prstGeom>
          <a:noFill/>
          <a:ln/>
        </p:spPr>
        <p:txBody>
          <a:bodyPr wrap="square" lIns="0" tIns="0" rIns="0" bIns="0" rtlCol="0" anchor="t"/>
          <a:lstStyle/>
          <a:p>
            <a:pPr>
              <a:lnSpc>
                <a:spcPts val="2900"/>
              </a:lnSpc>
            </a:pPr>
            <a:r>
              <a:rPr lang="en-US" sz="2400" dirty="0" smtClean="0"/>
              <a:t>OS schedules apps like browser and music player</a:t>
            </a:r>
            <a:endParaRPr lang="en-US" sz="2400" dirty="0"/>
          </a:p>
        </p:txBody>
      </p:sp>
      <p:sp>
        <p:nvSpPr>
          <p:cNvPr id="6" name="Shape 4"/>
          <p:cNvSpPr/>
          <p:nvPr/>
        </p:nvSpPr>
        <p:spPr>
          <a:xfrm>
            <a:off x="5267563" y="3865245"/>
            <a:ext cx="555308" cy="555308"/>
          </a:xfrm>
          <a:prstGeom prst="roundRect">
            <a:avLst>
              <a:gd name="adj" fmla="val 6667"/>
            </a:avLst>
          </a:prstGeom>
          <a:solidFill>
            <a:srgbClr val="F2EEEE"/>
          </a:solidFill>
          <a:ln/>
        </p:spPr>
      </p:sp>
      <p:sp>
        <p:nvSpPr>
          <p:cNvPr id="7" name="Text 5"/>
          <p:cNvSpPr/>
          <p:nvPr/>
        </p:nvSpPr>
        <p:spPr>
          <a:xfrm>
            <a:off x="6069687" y="3950018"/>
            <a:ext cx="2957393" cy="350639"/>
          </a:xfrm>
          <a:prstGeom prst="rect">
            <a:avLst/>
          </a:prstGeom>
          <a:noFill/>
          <a:ln/>
        </p:spPr>
        <p:txBody>
          <a:bodyPr wrap="none" lIns="0" tIns="0" rIns="0" bIns="0" rtlCol="0" anchor="t"/>
          <a:lstStyle/>
          <a:p>
            <a:pPr>
              <a:lnSpc>
                <a:spcPts val="2750"/>
              </a:lnSpc>
            </a:pPr>
            <a:r>
              <a:rPr lang="en-US" sz="2400" b="1" dirty="0" smtClean="0"/>
              <a:t>Banking System Processing</a:t>
            </a:r>
            <a:r>
              <a:rPr lang="en-US" sz="2400" dirty="0" smtClean="0"/>
              <a:t/>
            </a:r>
            <a:br>
              <a:rPr lang="en-US" sz="2400" dirty="0" smtClean="0"/>
            </a:br>
            <a:r>
              <a:rPr lang="en-US" sz="2400" dirty="0" smtClean="0"/>
              <a:t>Handles multiple </a:t>
            </a:r>
            <a:r>
              <a:rPr lang="en-US" sz="2400" dirty="0" smtClean="0"/>
              <a:t>transactions</a:t>
            </a:r>
          </a:p>
          <a:p>
            <a:pPr>
              <a:lnSpc>
                <a:spcPts val="2750"/>
              </a:lnSpc>
            </a:pPr>
            <a:r>
              <a:rPr lang="en-US" sz="2400" dirty="0" smtClean="0"/>
              <a:t> </a:t>
            </a:r>
            <a:r>
              <a:rPr lang="en-US" sz="2400" dirty="0" smtClean="0"/>
              <a:t>efficiently</a:t>
            </a:r>
            <a:endParaRPr lang="en-US" sz="2200" dirty="0">
              <a:latin typeface="Montserrat Bold" panose="020B0604020202020204" charset="0"/>
            </a:endParaRPr>
          </a:p>
        </p:txBody>
      </p:sp>
      <p:sp>
        <p:nvSpPr>
          <p:cNvPr id="8" name="Text 6"/>
          <p:cNvSpPr/>
          <p:nvPr/>
        </p:nvSpPr>
        <p:spPr>
          <a:xfrm>
            <a:off x="6069687" y="4448651"/>
            <a:ext cx="3293150" cy="740331"/>
          </a:xfrm>
          <a:prstGeom prst="rect">
            <a:avLst/>
          </a:prstGeom>
          <a:noFill/>
          <a:ln/>
        </p:spPr>
        <p:txBody>
          <a:bodyPr wrap="square" lIns="0" tIns="0" rIns="0" bIns="0" rtlCol="0" anchor="t"/>
          <a:lstStyle/>
          <a:p>
            <a:pPr>
              <a:lnSpc>
                <a:spcPts val="2900"/>
              </a:lnSpc>
            </a:pPr>
            <a:endParaRPr lang="en-US" sz="1900" dirty="0"/>
          </a:p>
        </p:txBody>
      </p:sp>
      <p:sp>
        <p:nvSpPr>
          <p:cNvPr id="9" name="Shape 7"/>
          <p:cNvSpPr/>
          <p:nvPr/>
        </p:nvSpPr>
        <p:spPr>
          <a:xfrm>
            <a:off x="9671328" y="3865245"/>
            <a:ext cx="555308" cy="555308"/>
          </a:xfrm>
          <a:prstGeom prst="roundRect">
            <a:avLst>
              <a:gd name="adj" fmla="val 6667"/>
            </a:avLst>
          </a:prstGeom>
          <a:solidFill>
            <a:srgbClr val="F2EEEE"/>
          </a:solidFill>
          <a:ln/>
        </p:spPr>
      </p:sp>
      <p:sp>
        <p:nvSpPr>
          <p:cNvPr id="10" name="Text 8"/>
          <p:cNvSpPr/>
          <p:nvPr/>
        </p:nvSpPr>
        <p:spPr>
          <a:xfrm>
            <a:off x="10509082" y="3950017"/>
            <a:ext cx="2804874" cy="350639"/>
          </a:xfrm>
          <a:prstGeom prst="rect">
            <a:avLst/>
          </a:prstGeom>
          <a:noFill/>
          <a:ln/>
        </p:spPr>
        <p:txBody>
          <a:bodyPr wrap="none" lIns="0" tIns="0" rIns="0" bIns="0" rtlCol="0" anchor="t"/>
          <a:lstStyle/>
          <a:p>
            <a:pPr>
              <a:lnSpc>
                <a:spcPts val="2750"/>
              </a:lnSpc>
            </a:pPr>
            <a:r>
              <a:rPr lang="en-US" sz="2400" b="1" dirty="0" smtClean="0"/>
              <a:t>Online Food Delivery Apps</a:t>
            </a:r>
            <a:r>
              <a:rPr lang="en-US" sz="2400" dirty="0" smtClean="0"/>
              <a:t/>
            </a:r>
            <a:br>
              <a:rPr lang="en-US" sz="2400" dirty="0" smtClean="0"/>
            </a:br>
            <a:r>
              <a:rPr lang="en-US" sz="2400" dirty="0" smtClean="0"/>
              <a:t>Manages order processing </a:t>
            </a:r>
            <a:r>
              <a:rPr lang="en-US" sz="2400" dirty="0" smtClean="0"/>
              <a:t>and</a:t>
            </a:r>
          </a:p>
          <a:p>
            <a:pPr>
              <a:lnSpc>
                <a:spcPts val="2750"/>
              </a:lnSpc>
            </a:pPr>
            <a:r>
              <a:rPr lang="en-US" sz="2400" dirty="0" smtClean="0"/>
              <a:t> </a:t>
            </a:r>
            <a:r>
              <a:rPr lang="en-US" sz="2400" dirty="0" smtClean="0"/>
              <a:t>delivery tasks efficiently</a:t>
            </a:r>
            <a:endParaRPr lang="en-US" sz="2200" dirty="0"/>
          </a:p>
        </p:txBody>
      </p:sp>
      <p:sp>
        <p:nvSpPr>
          <p:cNvPr id="11" name="Text 9"/>
          <p:cNvSpPr/>
          <p:nvPr/>
        </p:nvSpPr>
        <p:spPr>
          <a:xfrm>
            <a:off x="10473452" y="4448651"/>
            <a:ext cx="3293150" cy="1110496"/>
          </a:xfrm>
          <a:prstGeom prst="rect">
            <a:avLst/>
          </a:prstGeom>
          <a:noFill/>
          <a:ln/>
        </p:spPr>
        <p:txBody>
          <a:bodyPr wrap="square" lIns="0" tIns="0" rIns="0" bIns="0" rtlCol="0" anchor="t"/>
          <a:lstStyle/>
          <a:p>
            <a:pPr>
              <a:lnSpc>
                <a:spcPts val="2900"/>
              </a:lnSpc>
            </a:pPr>
            <a:endParaRPr lang="en-US" sz="1900" dirty="0"/>
          </a:p>
        </p:txBody>
      </p:sp>
    </p:spTree>
    <p:extLst>
      <p:ext uri="{BB962C8B-B14F-4D97-AF65-F5344CB8AC3E}">
        <p14:creationId xmlns:p14="http://schemas.microsoft.com/office/powerpoint/2010/main" xmlns="" val="29959882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4497" y="709448"/>
            <a:ext cx="13195738" cy="6463308"/>
          </a:xfrm>
          <a:prstGeom prst="rect">
            <a:avLst/>
          </a:prstGeom>
          <a:noFill/>
        </p:spPr>
        <p:txBody>
          <a:bodyPr wrap="square" rtlCol="0">
            <a:spAutoFit/>
          </a:bodyPr>
          <a:lstStyle/>
          <a:p>
            <a:r>
              <a:rPr lang="en-US" sz="2800" b="1" dirty="0" smtClean="0"/>
              <a:t>Calculation &amp; </a:t>
            </a:r>
            <a:r>
              <a:rPr lang="en-US" sz="2800" b="1" dirty="0" smtClean="0"/>
              <a:t>Formulae:</a:t>
            </a:r>
          </a:p>
          <a:p>
            <a:endParaRPr lang="en-US" dirty="0" smtClean="0"/>
          </a:p>
          <a:p>
            <a:pPr>
              <a:lnSpc>
                <a:spcPct val="250000"/>
              </a:lnSpc>
            </a:pPr>
            <a:r>
              <a:rPr lang="en-US" sz="2800" b="1" dirty="0" smtClean="0"/>
              <a:t>Turnaround Time (TAT)</a:t>
            </a:r>
            <a:r>
              <a:rPr lang="en-US" sz="2800" dirty="0" smtClean="0"/>
              <a:t> = Completion Time − Arrival Time </a:t>
            </a:r>
          </a:p>
          <a:p>
            <a:pPr>
              <a:lnSpc>
                <a:spcPct val="250000"/>
              </a:lnSpc>
            </a:pPr>
            <a:r>
              <a:rPr lang="en-US" sz="2800" b="1" dirty="0" smtClean="0"/>
              <a:t>Waiting Time (WT)</a:t>
            </a:r>
            <a:r>
              <a:rPr lang="en-US" sz="2800" dirty="0" smtClean="0"/>
              <a:t> = Turnaround Time − Burst Time </a:t>
            </a:r>
          </a:p>
          <a:p>
            <a:pPr>
              <a:lnSpc>
                <a:spcPct val="250000"/>
              </a:lnSpc>
            </a:pPr>
            <a:r>
              <a:rPr lang="en-US" sz="2800" b="1" dirty="0" smtClean="0"/>
              <a:t>Average WT</a:t>
            </a:r>
            <a:r>
              <a:rPr lang="en-US" sz="2800" dirty="0" smtClean="0"/>
              <a:t> = Total Waiting Time / Number of Processes </a:t>
            </a:r>
          </a:p>
          <a:p>
            <a:pPr>
              <a:lnSpc>
                <a:spcPct val="250000"/>
              </a:lnSpc>
            </a:pPr>
            <a:r>
              <a:rPr lang="en-US" sz="2800" b="1" dirty="0" smtClean="0"/>
              <a:t>Average TAT</a:t>
            </a:r>
            <a:r>
              <a:rPr lang="en-US" sz="2800" dirty="0" smtClean="0"/>
              <a:t> = Total Turnaround Time / Number of Processes </a:t>
            </a:r>
          </a:p>
          <a:p>
            <a:pPr>
              <a:lnSpc>
                <a:spcPct val="250000"/>
              </a:lnSpc>
            </a:pPr>
            <a:r>
              <a:rPr lang="en-US" sz="2800" b="1" dirty="0" smtClean="0"/>
              <a:t>CPU Utilization</a:t>
            </a:r>
            <a:r>
              <a:rPr lang="en-US" sz="2800" dirty="0" smtClean="0"/>
              <a:t> = (CPU Busy Time / Total Time) × 100</a:t>
            </a:r>
          </a:p>
          <a:p>
            <a:endParaRPr lang="en-US" dirty="0"/>
          </a:p>
        </p:txBody>
      </p:sp>
    </p:spTree>
    <p:extLst>
      <p:ext uri="{BB962C8B-B14F-4D97-AF65-F5344CB8AC3E}">
        <p14:creationId xmlns:p14="http://schemas.microsoft.com/office/powerpoint/2010/main" xmlns="" val="31832424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50883" y="378372"/>
            <a:ext cx="3326524" cy="523220"/>
          </a:xfrm>
          <a:prstGeom prst="rect">
            <a:avLst/>
          </a:prstGeom>
          <a:noFill/>
        </p:spPr>
        <p:txBody>
          <a:bodyPr wrap="square" rtlCol="0">
            <a:spAutoFit/>
          </a:bodyPr>
          <a:lstStyle/>
          <a:p>
            <a:r>
              <a:rPr lang="en-IN" sz="2800" b="1" dirty="0" smtClean="0"/>
              <a:t>Output:</a:t>
            </a:r>
            <a:endParaRPr lang="en-US" sz="2800" b="1" dirty="0"/>
          </a:p>
        </p:txBody>
      </p:sp>
      <p:pic>
        <p:nvPicPr>
          <p:cNvPr id="4" name="Picture 3" descr="Screenshot 2026-04-03 090146.png"/>
          <p:cNvPicPr>
            <a:picLocks noChangeAspect="1"/>
          </p:cNvPicPr>
          <p:nvPr/>
        </p:nvPicPr>
        <p:blipFill>
          <a:blip r:embed="rId2"/>
          <a:stretch>
            <a:fillRect/>
          </a:stretch>
        </p:blipFill>
        <p:spPr>
          <a:xfrm>
            <a:off x="1150883" y="1292772"/>
            <a:ext cx="12155214" cy="595936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31076" y="804041"/>
            <a:ext cx="12911958" cy="5878532"/>
          </a:xfrm>
          <a:prstGeom prst="rect">
            <a:avLst/>
          </a:prstGeom>
          <a:noFill/>
        </p:spPr>
        <p:txBody>
          <a:bodyPr wrap="square" rtlCol="0">
            <a:spAutoFit/>
          </a:bodyPr>
          <a:lstStyle/>
          <a:p>
            <a:r>
              <a:rPr lang="en-US" sz="2800" b="1" dirty="0" smtClean="0"/>
              <a:t>Conclusion</a:t>
            </a:r>
            <a:r>
              <a:rPr lang="en-US" b="1" dirty="0" smtClean="0"/>
              <a:t> </a:t>
            </a:r>
            <a:r>
              <a:rPr lang="en-US" b="1" dirty="0" smtClean="0"/>
              <a:t>:</a:t>
            </a:r>
          </a:p>
          <a:p>
            <a:pPr>
              <a:buFont typeface="Arial" pitchFamily="34" charset="0"/>
              <a:buChar char="•"/>
            </a:pPr>
            <a:endParaRPr lang="en-US" dirty="0" smtClean="0"/>
          </a:p>
          <a:p>
            <a:pPr>
              <a:lnSpc>
                <a:spcPct val="150000"/>
              </a:lnSpc>
              <a:buFont typeface="Arial" pitchFamily="34" charset="0"/>
              <a:buChar char="•"/>
            </a:pPr>
            <a:r>
              <a:rPr lang="en-US" sz="2400" dirty="0" smtClean="0"/>
              <a:t>The </a:t>
            </a:r>
            <a:r>
              <a:rPr lang="en-US" sz="2400" b="1" dirty="0" smtClean="0"/>
              <a:t>Process Lifecycle Analyzer &amp; Scheduler Simulator</a:t>
            </a:r>
            <a:r>
              <a:rPr lang="en-US" sz="2400" dirty="0" smtClean="0"/>
              <a:t> provides a clear understanding of how processes are managed and executed in an operating system. It helps visualize different scheduling algorithms and analyze their performance using key metrics.</a:t>
            </a:r>
          </a:p>
          <a:p>
            <a:pPr>
              <a:lnSpc>
                <a:spcPct val="150000"/>
              </a:lnSpc>
              <a:buFont typeface="Arial" pitchFamily="34" charset="0"/>
              <a:buChar char="•"/>
            </a:pPr>
            <a:r>
              <a:rPr lang="en-US" sz="2400" dirty="0" smtClean="0"/>
              <a:t>By simulating real-time process execution, the project improves learning, comparison, and optimization of CPU scheduling techniques. Overall, it is a useful tool for both educational purposes and basic system performance analysis</a:t>
            </a:r>
            <a:r>
              <a:rPr lang="en-US" sz="2400" dirty="0" smtClean="0"/>
              <a:t>.</a:t>
            </a:r>
          </a:p>
          <a:p>
            <a:pPr>
              <a:lnSpc>
                <a:spcPct val="150000"/>
              </a:lnSpc>
              <a:buFont typeface="Arial" pitchFamily="34" charset="0"/>
              <a:buChar char="•"/>
            </a:pPr>
            <a:r>
              <a:rPr lang="en-US" sz="2400" dirty="0" smtClean="0"/>
              <a:t>It enhances problem-solving skills by applying OS concepts practically. </a:t>
            </a:r>
          </a:p>
          <a:p>
            <a:pPr>
              <a:lnSpc>
                <a:spcPct val="150000"/>
              </a:lnSpc>
              <a:buFont typeface="Arial" pitchFamily="34" charset="0"/>
              <a:buChar char="•"/>
            </a:pPr>
            <a:r>
              <a:rPr lang="en-US" sz="2400" dirty="0" smtClean="0"/>
              <a:t>It provides a foundation for developing advanced system-level applications. </a:t>
            </a:r>
          </a:p>
          <a:p>
            <a:pPr>
              <a:buFont typeface="Arial" pitchFamily="34" charset="0"/>
              <a:buChar char="•"/>
            </a:pPr>
            <a:endParaRPr lang="en-US" sz="2400" dirty="0" smtClean="0"/>
          </a:p>
          <a:p>
            <a:endParaRPr lang="en-US" dirty="0"/>
          </a:p>
        </p:txBody>
      </p:sp>
    </p:spTree>
    <p:extLst>
      <p:ext uri="{BB962C8B-B14F-4D97-AF65-F5344CB8AC3E}">
        <p14:creationId xmlns:p14="http://schemas.microsoft.com/office/powerpoint/2010/main" xmlns="" val="23450950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72840" y="2558534"/>
            <a:ext cx="6309360" cy="1446550"/>
          </a:xfrm>
          <a:prstGeom prst="rect">
            <a:avLst/>
          </a:prstGeom>
          <a:noFill/>
        </p:spPr>
        <p:txBody>
          <a:bodyPr wrap="square" rtlCol="0">
            <a:spAutoFit/>
          </a:bodyPr>
          <a:lstStyle/>
          <a:p>
            <a:r>
              <a:rPr lang="en-US" sz="8800" dirty="0" smtClean="0">
                <a:latin typeface="Algerian" panose="04020705040A02060702" pitchFamily="82" charset="0"/>
              </a:rPr>
              <a:t>THANKYOU</a:t>
            </a:r>
            <a:endParaRPr lang="en-US" sz="8800" dirty="0">
              <a:latin typeface="Algerian" panose="04020705040A02060702" pitchFamily="82" charset="0"/>
            </a:endParaRPr>
          </a:p>
        </p:txBody>
      </p:sp>
    </p:spTree>
    <p:extLst>
      <p:ext uri="{BB962C8B-B14F-4D97-AF65-F5344CB8AC3E}">
        <p14:creationId xmlns:p14="http://schemas.microsoft.com/office/powerpoint/2010/main" xmlns="" val="150091615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308</TotalTime>
  <Words>691</Words>
  <Application>Microsoft Office PowerPoint</Application>
  <PresentationFormat>Custom</PresentationFormat>
  <Paragraphs>90</Paragraphs>
  <Slides>13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Montserrat Bold</vt:lpstr>
      <vt:lpstr>Source Sans 3</vt:lpstr>
      <vt:lpstr>Algerian</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Dhruva Sai</dc:creator>
  <cp:lastModifiedBy>dell</cp:lastModifiedBy>
  <cp:revision>14</cp:revision>
  <dcterms:created xsi:type="dcterms:W3CDTF">2025-10-06T14:26:22Z</dcterms:created>
  <dcterms:modified xsi:type="dcterms:W3CDTF">2026-04-03T03:33:07Z</dcterms:modified>
</cp:coreProperties>
</file>